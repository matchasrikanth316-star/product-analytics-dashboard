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983DDA-F0EB-478B-807A-B61D191B4A91}" v="27" dt="2025-11-29T17:34:36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E5FC8D-A1F9-42C3-AFA1-D4F97D4F681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F947B3C-7666-4A5F-8FCB-9F5D5DCA420C}">
      <dgm:prSet custT="1"/>
      <dgm:spPr/>
      <dgm:t>
        <a:bodyPr/>
        <a:lstStyle/>
        <a:p>
          <a:r>
            <a:rPr lang="en-US" sz="1800" b="1"/>
            <a:t>1️⃣ Discount Data (Excel File)                                                                                 </a:t>
          </a:r>
          <a:endParaRPr lang="en-IN" sz="1800"/>
        </a:p>
      </dgm:t>
    </dgm:pt>
    <dgm:pt modelId="{02AC1B78-FD6B-475D-BFB9-C2318A13C442}" type="parTrans" cxnId="{68779F28-A7B8-4C3E-B400-20736A786988}">
      <dgm:prSet/>
      <dgm:spPr/>
      <dgm:t>
        <a:bodyPr/>
        <a:lstStyle/>
        <a:p>
          <a:endParaRPr lang="en-IN" sz="1800"/>
        </a:p>
      </dgm:t>
    </dgm:pt>
    <dgm:pt modelId="{7067B28E-F923-4071-9B8F-6C7A802B1929}" type="sibTrans" cxnId="{68779F28-A7B8-4C3E-B400-20736A786988}">
      <dgm:prSet/>
      <dgm:spPr/>
      <dgm:t>
        <a:bodyPr/>
        <a:lstStyle/>
        <a:p>
          <a:endParaRPr lang="en-IN" sz="1800"/>
        </a:p>
      </dgm:t>
    </dgm:pt>
    <dgm:pt modelId="{1D748174-C18E-4C51-A6E1-8236A61424F3}">
      <dgm:prSet custT="1"/>
      <dgm:spPr/>
      <dgm:t>
        <a:bodyPr/>
        <a:lstStyle/>
        <a:p>
          <a:r>
            <a:rPr lang="en-US" sz="1800" b="1"/>
            <a:t>Month</a:t>
          </a:r>
          <a:endParaRPr lang="en-IN" sz="1800"/>
        </a:p>
      </dgm:t>
    </dgm:pt>
    <dgm:pt modelId="{FB0CDE76-CB23-4753-8B7A-4B82CA29E98C}" type="parTrans" cxnId="{9017A1A0-D060-46A9-AC7B-E228086ADB8F}">
      <dgm:prSet/>
      <dgm:spPr/>
      <dgm:t>
        <a:bodyPr/>
        <a:lstStyle/>
        <a:p>
          <a:endParaRPr lang="en-IN" sz="1800"/>
        </a:p>
      </dgm:t>
    </dgm:pt>
    <dgm:pt modelId="{DB1E18BB-A597-4AF5-A950-7B7621EE79AE}" type="sibTrans" cxnId="{9017A1A0-D060-46A9-AC7B-E228086ADB8F}">
      <dgm:prSet/>
      <dgm:spPr/>
      <dgm:t>
        <a:bodyPr/>
        <a:lstStyle/>
        <a:p>
          <a:endParaRPr lang="en-IN" sz="1800"/>
        </a:p>
      </dgm:t>
    </dgm:pt>
    <dgm:pt modelId="{6413EC77-1E3B-4E3B-B6F4-AF10F588213D}">
      <dgm:prSet custT="1"/>
      <dgm:spPr/>
      <dgm:t>
        <a:bodyPr/>
        <a:lstStyle/>
        <a:p>
          <a:r>
            <a:rPr lang="en-US" sz="1800" b="1"/>
            <a:t>Discount Band</a:t>
          </a:r>
          <a:endParaRPr lang="en-IN" sz="1800"/>
        </a:p>
      </dgm:t>
    </dgm:pt>
    <dgm:pt modelId="{363D3720-1221-4000-9413-563533CE9371}" type="parTrans" cxnId="{8448785D-F163-4FA9-8945-45743FEECD52}">
      <dgm:prSet/>
      <dgm:spPr/>
      <dgm:t>
        <a:bodyPr/>
        <a:lstStyle/>
        <a:p>
          <a:endParaRPr lang="en-IN" sz="1800"/>
        </a:p>
      </dgm:t>
    </dgm:pt>
    <dgm:pt modelId="{3E0B5B15-25BD-4F69-842E-0A51F0456C62}" type="sibTrans" cxnId="{8448785D-F163-4FA9-8945-45743FEECD52}">
      <dgm:prSet/>
      <dgm:spPr/>
      <dgm:t>
        <a:bodyPr/>
        <a:lstStyle/>
        <a:p>
          <a:endParaRPr lang="en-IN" sz="1800"/>
        </a:p>
      </dgm:t>
    </dgm:pt>
    <dgm:pt modelId="{93AF03F6-D823-47C0-9453-EB0885CBFBCF}">
      <dgm:prSet custT="1"/>
      <dgm:spPr/>
      <dgm:t>
        <a:bodyPr/>
        <a:lstStyle/>
        <a:p>
          <a:r>
            <a:rPr lang="en-US" sz="1800" b="1"/>
            <a:t>Discount</a:t>
          </a:r>
          <a:endParaRPr lang="en-IN" sz="1800"/>
        </a:p>
      </dgm:t>
    </dgm:pt>
    <dgm:pt modelId="{4AF95161-85E3-451D-A49B-8E5F2C0D62A0}" type="parTrans" cxnId="{AB4670CE-2FCD-4E5F-B10E-CCBA47E8064D}">
      <dgm:prSet/>
      <dgm:spPr/>
      <dgm:t>
        <a:bodyPr/>
        <a:lstStyle/>
        <a:p>
          <a:endParaRPr lang="en-IN" sz="1800"/>
        </a:p>
      </dgm:t>
    </dgm:pt>
    <dgm:pt modelId="{F8BE560B-97C4-4E9C-9513-4A7890687252}" type="sibTrans" cxnId="{AB4670CE-2FCD-4E5F-B10E-CCBA47E8064D}">
      <dgm:prSet/>
      <dgm:spPr/>
      <dgm:t>
        <a:bodyPr/>
        <a:lstStyle/>
        <a:p>
          <a:endParaRPr lang="en-IN" sz="1800"/>
        </a:p>
      </dgm:t>
    </dgm:pt>
    <dgm:pt modelId="{80387887-8EC5-43CB-B570-374E22F5B371}">
      <dgm:prSet custT="1"/>
      <dgm:spPr/>
      <dgm:t>
        <a:bodyPr/>
        <a:lstStyle/>
        <a:p>
          <a:r>
            <a:rPr lang="en-US" sz="1800" b="1"/>
            <a:t>2️⃣ Product Data (Excel File)</a:t>
          </a:r>
          <a:endParaRPr lang="en-IN" sz="1800"/>
        </a:p>
      </dgm:t>
    </dgm:pt>
    <dgm:pt modelId="{100CA472-5163-41AB-B1BD-C65D7FFD4A5B}" type="parTrans" cxnId="{7C08BB62-2DF1-4232-A98B-9AFFE87BD8A2}">
      <dgm:prSet/>
      <dgm:spPr/>
      <dgm:t>
        <a:bodyPr/>
        <a:lstStyle/>
        <a:p>
          <a:endParaRPr lang="en-IN" sz="1800"/>
        </a:p>
      </dgm:t>
    </dgm:pt>
    <dgm:pt modelId="{4837C826-83AA-44D7-A3F8-3452AF8CFC7B}" type="sibTrans" cxnId="{7C08BB62-2DF1-4232-A98B-9AFFE87BD8A2}">
      <dgm:prSet/>
      <dgm:spPr/>
      <dgm:t>
        <a:bodyPr/>
        <a:lstStyle/>
        <a:p>
          <a:endParaRPr lang="en-IN" sz="1800"/>
        </a:p>
      </dgm:t>
    </dgm:pt>
    <dgm:pt modelId="{8E3A0613-93A8-49E2-BA1F-89DBEA492B25}">
      <dgm:prSet custT="1"/>
      <dgm:spPr/>
      <dgm:t>
        <a:bodyPr/>
        <a:lstStyle/>
        <a:p>
          <a:r>
            <a:rPr lang="en-US" sz="1800"/>
            <a:t>Product ID</a:t>
          </a:r>
          <a:endParaRPr lang="en-IN" sz="1800"/>
        </a:p>
      </dgm:t>
    </dgm:pt>
    <dgm:pt modelId="{116E0AD9-2829-43B7-9D97-AE5E6BDBDA37}" type="parTrans" cxnId="{2FE322AE-38D7-4E9B-8AF4-90634DD515C4}">
      <dgm:prSet/>
      <dgm:spPr/>
      <dgm:t>
        <a:bodyPr/>
        <a:lstStyle/>
        <a:p>
          <a:endParaRPr lang="en-IN" sz="1800"/>
        </a:p>
      </dgm:t>
    </dgm:pt>
    <dgm:pt modelId="{11DB8015-6D3E-4218-9468-66A210A4CC2C}" type="sibTrans" cxnId="{2FE322AE-38D7-4E9B-8AF4-90634DD515C4}">
      <dgm:prSet/>
      <dgm:spPr/>
      <dgm:t>
        <a:bodyPr/>
        <a:lstStyle/>
        <a:p>
          <a:endParaRPr lang="en-IN" sz="1800"/>
        </a:p>
      </dgm:t>
    </dgm:pt>
    <dgm:pt modelId="{F0B0E679-DB5C-4643-A92D-180BE7C9D977}">
      <dgm:prSet custT="1"/>
      <dgm:spPr/>
      <dgm:t>
        <a:bodyPr/>
        <a:lstStyle/>
        <a:p>
          <a:r>
            <a:rPr lang="en-US" sz="1800"/>
            <a:t>Product Name</a:t>
          </a:r>
          <a:endParaRPr lang="en-IN" sz="1800"/>
        </a:p>
      </dgm:t>
    </dgm:pt>
    <dgm:pt modelId="{187E347A-090D-4ED3-B580-9678737F0A7C}" type="parTrans" cxnId="{6418DBAA-20EE-4A2E-9144-993D568FF91E}">
      <dgm:prSet/>
      <dgm:spPr/>
      <dgm:t>
        <a:bodyPr/>
        <a:lstStyle/>
        <a:p>
          <a:endParaRPr lang="en-IN" sz="1800"/>
        </a:p>
      </dgm:t>
    </dgm:pt>
    <dgm:pt modelId="{0C8A2B73-053F-46D3-A2B3-9CD72BC6B7C7}" type="sibTrans" cxnId="{6418DBAA-20EE-4A2E-9144-993D568FF91E}">
      <dgm:prSet/>
      <dgm:spPr/>
      <dgm:t>
        <a:bodyPr/>
        <a:lstStyle/>
        <a:p>
          <a:endParaRPr lang="en-IN" sz="1800"/>
        </a:p>
      </dgm:t>
    </dgm:pt>
    <dgm:pt modelId="{DBA08D0E-E59E-47AB-98FA-4953548458D2}">
      <dgm:prSet custT="1"/>
      <dgm:spPr/>
      <dgm:t>
        <a:bodyPr/>
        <a:lstStyle/>
        <a:p>
          <a:r>
            <a:rPr lang="en-US" sz="1800"/>
            <a:t>Category</a:t>
          </a:r>
          <a:endParaRPr lang="en-IN" sz="1800"/>
        </a:p>
      </dgm:t>
    </dgm:pt>
    <dgm:pt modelId="{4779829B-3668-48B4-9974-73DFC86A6F43}" type="parTrans" cxnId="{84B0C4B0-92AC-487B-91B2-42EBA801A382}">
      <dgm:prSet/>
      <dgm:spPr/>
      <dgm:t>
        <a:bodyPr/>
        <a:lstStyle/>
        <a:p>
          <a:endParaRPr lang="en-IN" sz="1800"/>
        </a:p>
      </dgm:t>
    </dgm:pt>
    <dgm:pt modelId="{FDEF90D6-D928-440A-BEE1-BC5E0DFCE485}" type="sibTrans" cxnId="{84B0C4B0-92AC-487B-91B2-42EBA801A382}">
      <dgm:prSet/>
      <dgm:spPr/>
      <dgm:t>
        <a:bodyPr/>
        <a:lstStyle/>
        <a:p>
          <a:endParaRPr lang="en-IN" sz="1800"/>
        </a:p>
      </dgm:t>
    </dgm:pt>
    <dgm:pt modelId="{3545D472-79B8-4254-93C0-9F0CA0D4FD23}">
      <dgm:prSet custT="1"/>
      <dgm:spPr/>
      <dgm:t>
        <a:bodyPr/>
        <a:lstStyle/>
        <a:p>
          <a:r>
            <a:rPr lang="en-US" sz="1800"/>
            <a:t>Cost Price</a:t>
          </a:r>
          <a:endParaRPr lang="en-IN" sz="1800"/>
        </a:p>
      </dgm:t>
    </dgm:pt>
    <dgm:pt modelId="{4A22DA2F-BCC9-4BCF-83CB-D0D5B9B7659B}" type="parTrans" cxnId="{14809CAD-6665-45FF-9781-505E73D9F1BB}">
      <dgm:prSet/>
      <dgm:spPr/>
      <dgm:t>
        <a:bodyPr/>
        <a:lstStyle/>
        <a:p>
          <a:endParaRPr lang="en-IN" sz="1800"/>
        </a:p>
      </dgm:t>
    </dgm:pt>
    <dgm:pt modelId="{60C49ADA-8804-4381-9F6C-1B66DE5ED98B}" type="sibTrans" cxnId="{14809CAD-6665-45FF-9781-505E73D9F1BB}">
      <dgm:prSet/>
      <dgm:spPr/>
      <dgm:t>
        <a:bodyPr/>
        <a:lstStyle/>
        <a:p>
          <a:endParaRPr lang="en-IN" sz="1800"/>
        </a:p>
      </dgm:t>
    </dgm:pt>
    <dgm:pt modelId="{79EE498F-22AD-41F2-AEAD-82EF5A3426C6}">
      <dgm:prSet custT="1"/>
      <dgm:spPr/>
      <dgm:t>
        <a:bodyPr/>
        <a:lstStyle/>
        <a:p>
          <a:r>
            <a:rPr lang="en-US" sz="1800"/>
            <a:t>Sale Price</a:t>
          </a:r>
          <a:endParaRPr lang="en-IN" sz="1800"/>
        </a:p>
      </dgm:t>
    </dgm:pt>
    <dgm:pt modelId="{1FA12B41-6971-4C12-8185-34958E1E4399}" type="parTrans" cxnId="{53EEAABA-0EB8-4D17-9462-81C52D3148C4}">
      <dgm:prSet/>
      <dgm:spPr/>
      <dgm:t>
        <a:bodyPr/>
        <a:lstStyle/>
        <a:p>
          <a:endParaRPr lang="en-IN" sz="1800"/>
        </a:p>
      </dgm:t>
    </dgm:pt>
    <dgm:pt modelId="{9713E61E-B26A-4878-8956-E62E8DD84B4E}" type="sibTrans" cxnId="{53EEAABA-0EB8-4D17-9462-81C52D3148C4}">
      <dgm:prSet/>
      <dgm:spPr/>
      <dgm:t>
        <a:bodyPr/>
        <a:lstStyle/>
        <a:p>
          <a:endParaRPr lang="en-IN" sz="1800"/>
        </a:p>
      </dgm:t>
    </dgm:pt>
    <dgm:pt modelId="{0E9CD8BD-9E20-4B2C-AED2-EA2DFC8264E0}">
      <dgm:prSet custT="1"/>
      <dgm:spPr/>
      <dgm:t>
        <a:bodyPr/>
        <a:lstStyle/>
        <a:p>
          <a:r>
            <a:rPr lang="en-US" sz="1800"/>
            <a:t>Brand</a:t>
          </a:r>
          <a:endParaRPr lang="en-IN" sz="1800"/>
        </a:p>
      </dgm:t>
    </dgm:pt>
    <dgm:pt modelId="{9A8BF538-BD1E-40D7-8912-4C0E601E672A}" type="parTrans" cxnId="{1E87670D-8695-4D68-B105-7463FD7C9157}">
      <dgm:prSet/>
      <dgm:spPr/>
      <dgm:t>
        <a:bodyPr/>
        <a:lstStyle/>
        <a:p>
          <a:endParaRPr lang="en-IN" sz="1800"/>
        </a:p>
      </dgm:t>
    </dgm:pt>
    <dgm:pt modelId="{8F54B1DB-5A7E-4CF8-B556-EB1C094A1DCA}" type="sibTrans" cxnId="{1E87670D-8695-4D68-B105-7463FD7C9157}">
      <dgm:prSet/>
      <dgm:spPr/>
      <dgm:t>
        <a:bodyPr/>
        <a:lstStyle/>
        <a:p>
          <a:endParaRPr lang="en-IN" sz="1800"/>
        </a:p>
      </dgm:t>
    </dgm:pt>
    <dgm:pt modelId="{1D22E570-9AFE-4A17-9F34-4B3463123BFB}">
      <dgm:prSet custT="1"/>
      <dgm:spPr/>
      <dgm:t>
        <a:bodyPr/>
        <a:lstStyle/>
        <a:p>
          <a:r>
            <a:rPr lang="en-US" sz="1800"/>
            <a:t>Description</a:t>
          </a:r>
          <a:endParaRPr lang="en-IN" sz="1800"/>
        </a:p>
      </dgm:t>
    </dgm:pt>
    <dgm:pt modelId="{4B5CAFD6-B8D3-4C60-8C8C-D786A8DF0830}" type="parTrans" cxnId="{01208029-0635-4CC8-ADC5-95CDB40005B2}">
      <dgm:prSet/>
      <dgm:spPr/>
      <dgm:t>
        <a:bodyPr/>
        <a:lstStyle/>
        <a:p>
          <a:endParaRPr lang="en-IN" sz="1800"/>
        </a:p>
      </dgm:t>
    </dgm:pt>
    <dgm:pt modelId="{6367ACCB-2684-46DF-9B65-7BBDC0160D6D}" type="sibTrans" cxnId="{01208029-0635-4CC8-ADC5-95CDB40005B2}">
      <dgm:prSet/>
      <dgm:spPr/>
      <dgm:t>
        <a:bodyPr/>
        <a:lstStyle/>
        <a:p>
          <a:endParaRPr lang="en-IN" sz="1800"/>
        </a:p>
      </dgm:t>
    </dgm:pt>
    <dgm:pt modelId="{BD08BEA6-91E2-485A-B983-20E82718E6F5}">
      <dgm:prSet custT="1"/>
      <dgm:spPr/>
      <dgm:t>
        <a:bodyPr/>
        <a:lstStyle/>
        <a:p>
          <a:r>
            <a:rPr lang="en-US" sz="1800"/>
            <a:t>Image URL</a:t>
          </a:r>
          <a:endParaRPr lang="en-IN" sz="1800"/>
        </a:p>
      </dgm:t>
    </dgm:pt>
    <dgm:pt modelId="{B6AEBE43-B5F2-4D09-AFFC-285641489994}" type="parTrans" cxnId="{0F01531D-1B5D-49D1-B88B-64998354186D}">
      <dgm:prSet/>
      <dgm:spPr/>
      <dgm:t>
        <a:bodyPr/>
        <a:lstStyle/>
        <a:p>
          <a:endParaRPr lang="en-IN" sz="1800"/>
        </a:p>
      </dgm:t>
    </dgm:pt>
    <dgm:pt modelId="{2C467C1D-A2B6-40B0-AF08-E775096575A9}" type="sibTrans" cxnId="{0F01531D-1B5D-49D1-B88B-64998354186D}">
      <dgm:prSet/>
      <dgm:spPr/>
      <dgm:t>
        <a:bodyPr/>
        <a:lstStyle/>
        <a:p>
          <a:endParaRPr lang="en-IN" sz="1800"/>
        </a:p>
      </dgm:t>
    </dgm:pt>
    <dgm:pt modelId="{1696AF5D-B12D-4085-944C-CE1D3381172F}">
      <dgm:prSet custT="1"/>
      <dgm:spPr/>
      <dgm:t>
        <a:bodyPr/>
        <a:lstStyle/>
        <a:p>
          <a:r>
            <a:rPr lang="en-US" sz="1800" b="1"/>
            <a:t>3️⃣ Sales Data (Excel File)</a:t>
          </a:r>
          <a:endParaRPr lang="en-IN" sz="1800"/>
        </a:p>
      </dgm:t>
    </dgm:pt>
    <dgm:pt modelId="{E48307DB-A0C1-4068-9ADD-FF4E407B9CDF}" type="parTrans" cxnId="{E3B9AF92-018A-477E-8C13-CF6DD3038F98}">
      <dgm:prSet/>
      <dgm:spPr/>
      <dgm:t>
        <a:bodyPr/>
        <a:lstStyle/>
        <a:p>
          <a:endParaRPr lang="en-IN" sz="1800"/>
        </a:p>
      </dgm:t>
    </dgm:pt>
    <dgm:pt modelId="{A8E19FFA-3993-44F8-899A-988718851CBA}" type="sibTrans" cxnId="{E3B9AF92-018A-477E-8C13-CF6DD3038F98}">
      <dgm:prSet/>
      <dgm:spPr/>
      <dgm:t>
        <a:bodyPr/>
        <a:lstStyle/>
        <a:p>
          <a:endParaRPr lang="en-IN" sz="1800"/>
        </a:p>
      </dgm:t>
    </dgm:pt>
    <dgm:pt modelId="{FDB78C71-52D7-44EE-B10D-2E35C213CB11}">
      <dgm:prSet custT="1"/>
      <dgm:spPr/>
      <dgm:t>
        <a:bodyPr/>
        <a:lstStyle/>
        <a:p>
          <a:r>
            <a:rPr lang="en-US" sz="1800"/>
            <a:t>Date</a:t>
          </a:r>
          <a:endParaRPr lang="en-IN" sz="1800"/>
        </a:p>
      </dgm:t>
    </dgm:pt>
    <dgm:pt modelId="{1AA25BD7-C78B-41AD-8A8B-24BCC6C29069}" type="parTrans" cxnId="{9EB964BF-154A-4931-B68F-BB4F676724FB}">
      <dgm:prSet/>
      <dgm:spPr/>
      <dgm:t>
        <a:bodyPr/>
        <a:lstStyle/>
        <a:p>
          <a:endParaRPr lang="en-IN" sz="1800"/>
        </a:p>
      </dgm:t>
    </dgm:pt>
    <dgm:pt modelId="{262503A7-9F67-4286-8D55-5890E786702F}" type="sibTrans" cxnId="{9EB964BF-154A-4931-B68F-BB4F676724FB}">
      <dgm:prSet/>
      <dgm:spPr/>
      <dgm:t>
        <a:bodyPr/>
        <a:lstStyle/>
        <a:p>
          <a:endParaRPr lang="en-IN" sz="1800"/>
        </a:p>
      </dgm:t>
    </dgm:pt>
    <dgm:pt modelId="{E002440E-CE00-4386-8F83-FE0C9C1FE7D3}">
      <dgm:prSet custT="1"/>
      <dgm:spPr/>
      <dgm:t>
        <a:bodyPr/>
        <a:lstStyle/>
        <a:p>
          <a:r>
            <a:rPr lang="en-US" sz="1800"/>
            <a:t>Customer Type</a:t>
          </a:r>
          <a:endParaRPr lang="en-IN" sz="1800"/>
        </a:p>
      </dgm:t>
    </dgm:pt>
    <dgm:pt modelId="{9D299500-44F2-4150-B99D-3B22222978E1}" type="parTrans" cxnId="{DA9E7504-25DE-46AE-A34A-793EFA92DE56}">
      <dgm:prSet/>
      <dgm:spPr/>
      <dgm:t>
        <a:bodyPr/>
        <a:lstStyle/>
        <a:p>
          <a:endParaRPr lang="en-IN" sz="1800"/>
        </a:p>
      </dgm:t>
    </dgm:pt>
    <dgm:pt modelId="{7270027B-2315-4619-96E0-0D6459B8A1CD}" type="sibTrans" cxnId="{DA9E7504-25DE-46AE-A34A-793EFA92DE56}">
      <dgm:prSet/>
      <dgm:spPr/>
      <dgm:t>
        <a:bodyPr/>
        <a:lstStyle/>
        <a:p>
          <a:endParaRPr lang="en-IN" sz="1800"/>
        </a:p>
      </dgm:t>
    </dgm:pt>
    <dgm:pt modelId="{E58785E0-E0D0-4EC2-ACC4-EB55AB4A473A}">
      <dgm:prSet custT="1"/>
      <dgm:spPr/>
      <dgm:t>
        <a:bodyPr/>
        <a:lstStyle/>
        <a:p>
          <a:r>
            <a:rPr lang="en-US" sz="1800"/>
            <a:t>Country</a:t>
          </a:r>
          <a:endParaRPr lang="en-IN" sz="1800"/>
        </a:p>
      </dgm:t>
    </dgm:pt>
    <dgm:pt modelId="{BF054E60-89B9-401A-B5CE-68D49D0427CD}" type="parTrans" cxnId="{326A6851-11EC-4C8D-B913-BC4937923AFD}">
      <dgm:prSet/>
      <dgm:spPr/>
      <dgm:t>
        <a:bodyPr/>
        <a:lstStyle/>
        <a:p>
          <a:endParaRPr lang="en-IN" sz="1800"/>
        </a:p>
      </dgm:t>
    </dgm:pt>
    <dgm:pt modelId="{CCFA1E06-74F8-4DCE-AC57-2FAF674B6B39}" type="sibTrans" cxnId="{326A6851-11EC-4C8D-B913-BC4937923AFD}">
      <dgm:prSet/>
      <dgm:spPr/>
      <dgm:t>
        <a:bodyPr/>
        <a:lstStyle/>
        <a:p>
          <a:endParaRPr lang="en-IN" sz="1800"/>
        </a:p>
      </dgm:t>
    </dgm:pt>
    <dgm:pt modelId="{0E2E0C24-672C-4081-A709-46D078C9444A}">
      <dgm:prSet custT="1"/>
      <dgm:spPr/>
      <dgm:t>
        <a:bodyPr/>
        <a:lstStyle/>
        <a:p>
          <a:r>
            <a:rPr lang="en-US" sz="1800"/>
            <a:t>Product</a:t>
          </a:r>
          <a:endParaRPr lang="en-IN" sz="1800"/>
        </a:p>
      </dgm:t>
    </dgm:pt>
    <dgm:pt modelId="{EB8333AB-67A8-43CE-9E7E-9CBD3D5BE6C0}" type="parTrans" cxnId="{0A04AF2F-7213-42D5-8499-31E2DFAEF6A4}">
      <dgm:prSet/>
      <dgm:spPr/>
      <dgm:t>
        <a:bodyPr/>
        <a:lstStyle/>
        <a:p>
          <a:endParaRPr lang="en-IN" sz="1800"/>
        </a:p>
      </dgm:t>
    </dgm:pt>
    <dgm:pt modelId="{E0AA3451-518D-4512-8848-E8815870E3DD}" type="sibTrans" cxnId="{0A04AF2F-7213-42D5-8499-31E2DFAEF6A4}">
      <dgm:prSet/>
      <dgm:spPr/>
      <dgm:t>
        <a:bodyPr/>
        <a:lstStyle/>
        <a:p>
          <a:endParaRPr lang="en-IN" sz="1800"/>
        </a:p>
      </dgm:t>
    </dgm:pt>
    <dgm:pt modelId="{585E9F0F-D1CF-4B8E-B2A9-B8A9B4E28E86}">
      <dgm:prSet custT="1"/>
      <dgm:spPr/>
      <dgm:t>
        <a:bodyPr/>
        <a:lstStyle/>
        <a:p>
          <a:r>
            <a:rPr lang="en-US" sz="1800"/>
            <a:t>Discount Band</a:t>
          </a:r>
          <a:endParaRPr lang="en-IN" sz="1800"/>
        </a:p>
      </dgm:t>
    </dgm:pt>
    <dgm:pt modelId="{55DB0274-D52A-42F5-9A79-E832C9F88C91}" type="parTrans" cxnId="{6D274E4D-020D-480A-B842-CEE085B6A3E6}">
      <dgm:prSet/>
      <dgm:spPr/>
      <dgm:t>
        <a:bodyPr/>
        <a:lstStyle/>
        <a:p>
          <a:endParaRPr lang="en-IN" sz="1800"/>
        </a:p>
      </dgm:t>
    </dgm:pt>
    <dgm:pt modelId="{7AD717DE-6C2A-454F-8B5A-49C4DB58AA4B}" type="sibTrans" cxnId="{6D274E4D-020D-480A-B842-CEE085B6A3E6}">
      <dgm:prSet/>
      <dgm:spPr/>
      <dgm:t>
        <a:bodyPr/>
        <a:lstStyle/>
        <a:p>
          <a:endParaRPr lang="en-IN" sz="1800"/>
        </a:p>
      </dgm:t>
    </dgm:pt>
    <dgm:pt modelId="{8A6A4A5B-1E04-41BF-B01C-953D06EFF97C}">
      <dgm:prSet custT="1"/>
      <dgm:spPr/>
      <dgm:t>
        <a:bodyPr/>
        <a:lstStyle/>
        <a:p>
          <a:r>
            <a:rPr lang="en-US" sz="1800"/>
            <a:t>Units Sold</a:t>
          </a:r>
          <a:endParaRPr lang="en-IN" sz="1800"/>
        </a:p>
      </dgm:t>
    </dgm:pt>
    <dgm:pt modelId="{6B9830EA-3C60-4576-97FF-2FDAD1CA29BA}" type="parTrans" cxnId="{2DD3FD38-5C9A-4271-B974-16CC255466EA}">
      <dgm:prSet/>
      <dgm:spPr/>
      <dgm:t>
        <a:bodyPr/>
        <a:lstStyle/>
        <a:p>
          <a:endParaRPr lang="en-IN" sz="1800"/>
        </a:p>
      </dgm:t>
    </dgm:pt>
    <dgm:pt modelId="{D829DF0A-3B8C-41F7-B824-B5496DC8670C}" type="sibTrans" cxnId="{2DD3FD38-5C9A-4271-B974-16CC255466EA}">
      <dgm:prSet/>
      <dgm:spPr/>
      <dgm:t>
        <a:bodyPr/>
        <a:lstStyle/>
        <a:p>
          <a:endParaRPr lang="en-IN" sz="1800"/>
        </a:p>
      </dgm:t>
    </dgm:pt>
    <dgm:pt modelId="{E3B87168-061C-4938-AD8B-B4A86CF30EE1}" type="pres">
      <dgm:prSet presAssocID="{F4E5FC8D-A1F9-42C3-AFA1-D4F97D4F6815}" presName="Name0" presStyleCnt="0">
        <dgm:presLayoutVars>
          <dgm:dir/>
          <dgm:animLvl val="lvl"/>
          <dgm:resizeHandles val="exact"/>
        </dgm:presLayoutVars>
      </dgm:prSet>
      <dgm:spPr/>
    </dgm:pt>
    <dgm:pt modelId="{3CB09B87-3DCC-4E9D-948A-26D51BD7D8E1}" type="pres">
      <dgm:prSet presAssocID="{8F947B3C-7666-4A5F-8FCB-9F5D5DCA420C}" presName="composite" presStyleCnt="0"/>
      <dgm:spPr/>
    </dgm:pt>
    <dgm:pt modelId="{85BE46A3-20BC-450D-816E-12F4179FF664}" type="pres">
      <dgm:prSet presAssocID="{8F947B3C-7666-4A5F-8FCB-9F5D5DCA420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004CA8B-6BBB-4FD3-B1D9-715F4A3A5E0D}" type="pres">
      <dgm:prSet presAssocID="{8F947B3C-7666-4A5F-8FCB-9F5D5DCA420C}" presName="desTx" presStyleLbl="alignAccFollowNode1" presStyleIdx="0" presStyleCnt="3">
        <dgm:presLayoutVars>
          <dgm:bulletEnabled val="1"/>
        </dgm:presLayoutVars>
      </dgm:prSet>
      <dgm:spPr/>
    </dgm:pt>
    <dgm:pt modelId="{DF6AF766-8933-4A44-9582-7983D001F590}" type="pres">
      <dgm:prSet presAssocID="{7067B28E-F923-4071-9B8F-6C7A802B1929}" presName="space" presStyleCnt="0"/>
      <dgm:spPr/>
    </dgm:pt>
    <dgm:pt modelId="{492152E5-FCA0-4026-AA83-F2C4647FE36E}" type="pres">
      <dgm:prSet presAssocID="{80387887-8EC5-43CB-B570-374E22F5B371}" presName="composite" presStyleCnt="0"/>
      <dgm:spPr/>
    </dgm:pt>
    <dgm:pt modelId="{E88C496C-56C0-46F9-993F-9C10778889AC}" type="pres">
      <dgm:prSet presAssocID="{80387887-8EC5-43CB-B570-374E22F5B37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2E38CC2-67C2-49D3-BB94-DB4B817B402B}" type="pres">
      <dgm:prSet presAssocID="{80387887-8EC5-43CB-B570-374E22F5B371}" presName="desTx" presStyleLbl="alignAccFollowNode1" presStyleIdx="1" presStyleCnt="3">
        <dgm:presLayoutVars>
          <dgm:bulletEnabled val="1"/>
        </dgm:presLayoutVars>
      </dgm:prSet>
      <dgm:spPr/>
    </dgm:pt>
    <dgm:pt modelId="{E5F05AE6-0D33-473D-8971-511DD57F2F5B}" type="pres">
      <dgm:prSet presAssocID="{4837C826-83AA-44D7-A3F8-3452AF8CFC7B}" presName="space" presStyleCnt="0"/>
      <dgm:spPr/>
    </dgm:pt>
    <dgm:pt modelId="{699E6A3B-072E-47B2-8C5A-CD51361675B4}" type="pres">
      <dgm:prSet presAssocID="{1696AF5D-B12D-4085-944C-CE1D3381172F}" presName="composite" presStyleCnt="0"/>
      <dgm:spPr/>
    </dgm:pt>
    <dgm:pt modelId="{D7D2762C-05E7-4EC0-84C8-3C1420245A1B}" type="pres">
      <dgm:prSet presAssocID="{1696AF5D-B12D-4085-944C-CE1D3381172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68AB47D-4D03-4296-9DD2-8B18D94A6657}" type="pres">
      <dgm:prSet presAssocID="{1696AF5D-B12D-4085-944C-CE1D3381172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A9E7504-25DE-46AE-A34A-793EFA92DE56}" srcId="{1696AF5D-B12D-4085-944C-CE1D3381172F}" destId="{E002440E-CE00-4386-8F83-FE0C9C1FE7D3}" srcOrd="1" destOrd="0" parTransId="{9D299500-44F2-4150-B99D-3B22222978E1}" sibTransId="{7270027B-2315-4619-96E0-0D6459B8A1CD}"/>
    <dgm:cxn modelId="{9B0BC809-E61A-4F7B-94B9-C72506F707F8}" type="presOf" srcId="{F4E5FC8D-A1F9-42C3-AFA1-D4F97D4F6815}" destId="{E3B87168-061C-4938-AD8B-B4A86CF30EE1}" srcOrd="0" destOrd="0" presId="urn:microsoft.com/office/officeart/2005/8/layout/hList1"/>
    <dgm:cxn modelId="{1E87670D-8695-4D68-B105-7463FD7C9157}" srcId="{80387887-8EC5-43CB-B570-374E22F5B371}" destId="{0E9CD8BD-9E20-4B2C-AED2-EA2DFC8264E0}" srcOrd="5" destOrd="0" parTransId="{9A8BF538-BD1E-40D7-8912-4C0E601E672A}" sibTransId="{8F54B1DB-5A7E-4CF8-B556-EB1C094A1DCA}"/>
    <dgm:cxn modelId="{F2331B0F-3422-4FEA-BB35-0175AF7A8BC3}" type="presOf" srcId="{DBA08D0E-E59E-47AB-98FA-4953548458D2}" destId="{D2E38CC2-67C2-49D3-BB94-DB4B817B402B}" srcOrd="0" destOrd="2" presId="urn:microsoft.com/office/officeart/2005/8/layout/hList1"/>
    <dgm:cxn modelId="{F0332B1A-DE96-40D1-8570-72A9C81AB640}" type="presOf" srcId="{6413EC77-1E3B-4E3B-B6F4-AF10F588213D}" destId="{7004CA8B-6BBB-4FD3-B1D9-715F4A3A5E0D}" srcOrd="0" destOrd="1" presId="urn:microsoft.com/office/officeart/2005/8/layout/hList1"/>
    <dgm:cxn modelId="{9ED5221C-223B-45C3-8FED-D4AA34893C66}" type="presOf" srcId="{E002440E-CE00-4386-8F83-FE0C9C1FE7D3}" destId="{F68AB47D-4D03-4296-9DD2-8B18D94A6657}" srcOrd="0" destOrd="1" presId="urn:microsoft.com/office/officeart/2005/8/layout/hList1"/>
    <dgm:cxn modelId="{0F01531D-1B5D-49D1-B88B-64998354186D}" srcId="{80387887-8EC5-43CB-B570-374E22F5B371}" destId="{BD08BEA6-91E2-485A-B983-20E82718E6F5}" srcOrd="7" destOrd="0" parTransId="{B6AEBE43-B5F2-4D09-AFFC-285641489994}" sibTransId="{2C467C1D-A2B6-40B0-AF08-E775096575A9}"/>
    <dgm:cxn modelId="{68779F28-A7B8-4C3E-B400-20736A786988}" srcId="{F4E5FC8D-A1F9-42C3-AFA1-D4F97D4F6815}" destId="{8F947B3C-7666-4A5F-8FCB-9F5D5DCA420C}" srcOrd="0" destOrd="0" parTransId="{02AC1B78-FD6B-475D-BFB9-C2318A13C442}" sibTransId="{7067B28E-F923-4071-9B8F-6C7A802B1929}"/>
    <dgm:cxn modelId="{01208029-0635-4CC8-ADC5-95CDB40005B2}" srcId="{80387887-8EC5-43CB-B570-374E22F5B371}" destId="{1D22E570-9AFE-4A17-9F34-4B3463123BFB}" srcOrd="6" destOrd="0" parTransId="{4B5CAFD6-B8D3-4C60-8C8C-D786A8DF0830}" sibTransId="{6367ACCB-2684-46DF-9B65-7BBDC0160D6D}"/>
    <dgm:cxn modelId="{0A04AF2F-7213-42D5-8499-31E2DFAEF6A4}" srcId="{1696AF5D-B12D-4085-944C-CE1D3381172F}" destId="{0E2E0C24-672C-4081-A709-46D078C9444A}" srcOrd="3" destOrd="0" parTransId="{EB8333AB-67A8-43CE-9E7E-9CBD3D5BE6C0}" sibTransId="{E0AA3451-518D-4512-8848-E8815870E3DD}"/>
    <dgm:cxn modelId="{4C9C4431-671C-4C63-A402-C4AE131D87F0}" type="presOf" srcId="{8A6A4A5B-1E04-41BF-B01C-953D06EFF97C}" destId="{F68AB47D-4D03-4296-9DD2-8B18D94A6657}" srcOrd="0" destOrd="5" presId="urn:microsoft.com/office/officeart/2005/8/layout/hList1"/>
    <dgm:cxn modelId="{EFE14A34-3D1D-4C57-800D-332C1A00F780}" type="presOf" srcId="{93AF03F6-D823-47C0-9453-EB0885CBFBCF}" destId="{7004CA8B-6BBB-4FD3-B1D9-715F4A3A5E0D}" srcOrd="0" destOrd="2" presId="urn:microsoft.com/office/officeart/2005/8/layout/hList1"/>
    <dgm:cxn modelId="{2DD3FD38-5C9A-4271-B974-16CC255466EA}" srcId="{1696AF5D-B12D-4085-944C-CE1D3381172F}" destId="{8A6A4A5B-1E04-41BF-B01C-953D06EFF97C}" srcOrd="5" destOrd="0" parTransId="{6B9830EA-3C60-4576-97FF-2FDAD1CA29BA}" sibTransId="{D829DF0A-3B8C-41F7-B824-B5496DC8670C}"/>
    <dgm:cxn modelId="{F9DEBA3E-1DD7-4858-AE77-AB0A877DBC28}" type="presOf" srcId="{0E9CD8BD-9E20-4B2C-AED2-EA2DFC8264E0}" destId="{D2E38CC2-67C2-49D3-BB94-DB4B817B402B}" srcOrd="0" destOrd="5" presId="urn:microsoft.com/office/officeart/2005/8/layout/hList1"/>
    <dgm:cxn modelId="{8448785D-F163-4FA9-8945-45743FEECD52}" srcId="{8F947B3C-7666-4A5F-8FCB-9F5D5DCA420C}" destId="{6413EC77-1E3B-4E3B-B6F4-AF10F588213D}" srcOrd="1" destOrd="0" parTransId="{363D3720-1221-4000-9413-563533CE9371}" sibTransId="{3E0B5B15-25BD-4F69-842E-0A51F0456C62}"/>
    <dgm:cxn modelId="{7C08BB62-2DF1-4232-A98B-9AFFE87BD8A2}" srcId="{F4E5FC8D-A1F9-42C3-AFA1-D4F97D4F6815}" destId="{80387887-8EC5-43CB-B570-374E22F5B371}" srcOrd="1" destOrd="0" parTransId="{100CA472-5163-41AB-B1BD-C65D7FFD4A5B}" sibTransId="{4837C826-83AA-44D7-A3F8-3452AF8CFC7B}"/>
    <dgm:cxn modelId="{8FA4A247-2529-4EB2-B9B4-42A93FC56BC9}" type="presOf" srcId="{3545D472-79B8-4254-93C0-9F0CA0D4FD23}" destId="{D2E38CC2-67C2-49D3-BB94-DB4B817B402B}" srcOrd="0" destOrd="3" presId="urn:microsoft.com/office/officeart/2005/8/layout/hList1"/>
    <dgm:cxn modelId="{6D274E4D-020D-480A-B842-CEE085B6A3E6}" srcId="{1696AF5D-B12D-4085-944C-CE1D3381172F}" destId="{585E9F0F-D1CF-4B8E-B2A9-B8A9B4E28E86}" srcOrd="4" destOrd="0" parTransId="{55DB0274-D52A-42F5-9A79-E832C9F88C91}" sibTransId="{7AD717DE-6C2A-454F-8B5A-49C4DB58AA4B}"/>
    <dgm:cxn modelId="{31C6966E-1187-43DF-9FE2-34D3C45DBF94}" type="presOf" srcId="{1D22E570-9AFE-4A17-9F34-4B3463123BFB}" destId="{D2E38CC2-67C2-49D3-BB94-DB4B817B402B}" srcOrd="0" destOrd="6" presId="urn:microsoft.com/office/officeart/2005/8/layout/hList1"/>
    <dgm:cxn modelId="{326A6851-11EC-4C8D-B913-BC4937923AFD}" srcId="{1696AF5D-B12D-4085-944C-CE1D3381172F}" destId="{E58785E0-E0D0-4EC2-ACC4-EB55AB4A473A}" srcOrd="2" destOrd="0" parTransId="{BF054E60-89B9-401A-B5CE-68D49D0427CD}" sibTransId="{CCFA1E06-74F8-4DCE-AC57-2FAF674B6B39}"/>
    <dgm:cxn modelId="{9BEB0752-7872-4846-AE3D-88BC197A9F96}" type="presOf" srcId="{585E9F0F-D1CF-4B8E-B2A9-B8A9B4E28E86}" destId="{F68AB47D-4D03-4296-9DD2-8B18D94A6657}" srcOrd="0" destOrd="4" presId="urn:microsoft.com/office/officeart/2005/8/layout/hList1"/>
    <dgm:cxn modelId="{0328D953-C8A9-43CE-BFEE-365E9BC6B89A}" type="presOf" srcId="{E58785E0-E0D0-4EC2-ACC4-EB55AB4A473A}" destId="{F68AB47D-4D03-4296-9DD2-8B18D94A6657}" srcOrd="0" destOrd="2" presId="urn:microsoft.com/office/officeart/2005/8/layout/hList1"/>
    <dgm:cxn modelId="{CB8F9B7C-9A8A-4C51-9CAC-BC91795DC054}" type="presOf" srcId="{F0B0E679-DB5C-4643-A92D-180BE7C9D977}" destId="{D2E38CC2-67C2-49D3-BB94-DB4B817B402B}" srcOrd="0" destOrd="1" presId="urn:microsoft.com/office/officeart/2005/8/layout/hList1"/>
    <dgm:cxn modelId="{ED60528D-676C-4FEB-94B2-B9FDCB3C176A}" type="presOf" srcId="{79EE498F-22AD-41F2-AEAD-82EF5A3426C6}" destId="{D2E38CC2-67C2-49D3-BB94-DB4B817B402B}" srcOrd="0" destOrd="4" presId="urn:microsoft.com/office/officeart/2005/8/layout/hList1"/>
    <dgm:cxn modelId="{E3B9AF92-018A-477E-8C13-CF6DD3038F98}" srcId="{F4E5FC8D-A1F9-42C3-AFA1-D4F97D4F6815}" destId="{1696AF5D-B12D-4085-944C-CE1D3381172F}" srcOrd="2" destOrd="0" parTransId="{E48307DB-A0C1-4068-9ADD-FF4E407B9CDF}" sibTransId="{A8E19FFA-3993-44F8-899A-988718851CBA}"/>
    <dgm:cxn modelId="{99783196-9476-4AD6-A5B9-7D4ED8F7DDBF}" type="presOf" srcId="{80387887-8EC5-43CB-B570-374E22F5B371}" destId="{E88C496C-56C0-46F9-993F-9C10778889AC}" srcOrd="0" destOrd="0" presId="urn:microsoft.com/office/officeart/2005/8/layout/hList1"/>
    <dgm:cxn modelId="{E3AF819E-F8CD-4ADE-B7F8-84462D4AD916}" type="presOf" srcId="{1D748174-C18E-4C51-A6E1-8236A61424F3}" destId="{7004CA8B-6BBB-4FD3-B1D9-715F4A3A5E0D}" srcOrd="0" destOrd="0" presId="urn:microsoft.com/office/officeart/2005/8/layout/hList1"/>
    <dgm:cxn modelId="{9017A1A0-D060-46A9-AC7B-E228086ADB8F}" srcId="{8F947B3C-7666-4A5F-8FCB-9F5D5DCA420C}" destId="{1D748174-C18E-4C51-A6E1-8236A61424F3}" srcOrd="0" destOrd="0" parTransId="{FB0CDE76-CB23-4753-8B7A-4B82CA29E98C}" sibTransId="{DB1E18BB-A597-4AF5-A950-7B7621EE79AE}"/>
    <dgm:cxn modelId="{6418DBAA-20EE-4A2E-9144-993D568FF91E}" srcId="{80387887-8EC5-43CB-B570-374E22F5B371}" destId="{F0B0E679-DB5C-4643-A92D-180BE7C9D977}" srcOrd="1" destOrd="0" parTransId="{187E347A-090D-4ED3-B580-9678737F0A7C}" sibTransId="{0C8A2B73-053F-46D3-A2B3-9CD72BC6B7C7}"/>
    <dgm:cxn modelId="{14809CAD-6665-45FF-9781-505E73D9F1BB}" srcId="{80387887-8EC5-43CB-B570-374E22F5B371}" destId="{3545D472-79B8-4254-93C0-9F0CA0D4FD23}" srcOrd="3" destOrd="0" parTransId="{4A22DA2F-BCC9-4BCF-83CB-D0D5B9B7659B}" sibTransId="{60C49ADA-8804-4381-9F6C-1B66DE5ED98B}"/>
    <dgm:cxn modelId="{2FE322AE-38D7-4E9B-8AF4-90634DD515C4}" srcId="{80387887-8EC5-43CB-B570-374E22F5B371}" destId="{8E3A0613-93A8-49E2-BA1F-89DBEA492B25}" srcOrd="0" destOrd="0" parTransId="{116E0AD9-2829-43B7-9D97-AE5E6BDBDA37}" sibTransId="{11DB8015-6D3E-4218-9468-66A210A4CC2C}"/>
    <dgm:cxn modelId="{84B0C4B0-92AC-487B-91B2-42EBA801A382}" srcId="{80387887-8EC5-43CB-B570-374E22F5B371}" destId="{DBA08D0E-E59E-47AB-98FA-4953548458D2}" srcOrd="2" destOrd="0" parTransId="{4779829B-3668-48B4-9974-73DFC86A6F43}" sibTransId="{FDEF90D6-D928-440A-BEE1-BC5E0DFCE485}"/>
    <dgm:cxn modelId="{1A93A0B9-D56E-4B88-AF3B-3F446DB80553}" type="presOf" srcId="{8F947B3C-7666-4A5F-8FCB-9F5D5DCA420C}" destId="{85BE46A3-20BC-450D-816E-12F4179FF664}" srcOrd="0" destOrd="0" presId="urn:microsoft.com/office/officeart/2005/8/layout/hList1"/>
    <dgm:cxn modelId="{53EEAABA-0EB8-4D17-9462-81C52D3148C4}" srcId="{80387887-8EC5-43CB-B570-374E22F5B371}" destId="{79EE498F-22AD-41F2-AEAD-82EF5A3426C6}" srcOrd="4" destOrd="0" parTransId="{1FA12B41-6971-4C12-8185-34958E1E4399}" sibTransId="{9713E61E-B26A-4878-8956-E62E8DD84B4E}"/>
    <dgm:cxn modelId="{05AE7EBB-450A-4629-A886-E8AAC39C3074}" type="presOf" srcId="{0E2E0C24-672C-4081-A709-46D078C9444A}" destId="{F68AB47D-4D03-4296-9DD2-8B18D94A6657}" srcOrd="0" destOrd="3" presId="urn:microsoft.com/office/officeart/2005/8/layout/hList1"/>
    <dgm:cxn modelId="{9EB964BF-154A-4931-B68F-BB4F676724FB}" srcId="{1696AF5D-B12D-4085-944C-CE1D3381172F}" destId="{FDB78C71-52D7-44EE-B10D-2E35C213CB11}" srcOrd="0" destOrd="0" parTransId="{1AA25BD7-C78B-41AD-8A8B-24BCC6C29069}" sibTransId="{262503A7-9F67-4286-8D55-5890E786702F}"/>
    <dgm:cxn modelId="{77241EC6-F94B-4FCA-9744-44B551CF2C06}" type="presOf" srcId="{BD08BEA6-91E2-485A-B983-20E82718E6F5}" destId="{D2E38CC2-67C2-49D3-BB94-DB4B817B402B}" srcOrd="0" destOrd="7" presId="urn:microsoft.com/office/officeart/2005/8/layout/hList1"/>
    <dgm:cxn modelId="{AB4670CE-2FCD-4E5F-B10E-CCBA47E8064D}" srcId="{8F947B3C-7666-4A5F-8FCB-9F5D5DCA420C}" destId="{93AF03F6-D823-47C0-9453-EB0885CBFBCF}" srcOrd="2" destOrd="0" parTransId="{4AF95161-85E3-451D-A49B-8E5F2C0D62A0}" sibTransId="{F8BE560B-97C4-4E9C-9513-4A7890687252}"/>
    <dgm:cxn modelId="{8733BCCE-940F-49A3-B743-A36792E5DC45}" type="presOf" srcId="{8E3A0613-93A8-49E2-BA1F-89DBEA492B25}" destId="{D2E38CC2-67C2-49D3-BB94-DB4B817B402B}" srcOrd="0" destOrd="0" presId="urn:microsoft.com/office/officeart/2005/8/layout/hList1"/>
    <dgm:cxn modelId="{EB9347E2-AA45-45E0-81B8-6EFECF8E027F}" type="presOf" srcId="{FDB78C71-52D7-44EE-B10D-2E35C213CB11}" destId="{F68AB47D-4D03-4296-9DD2-8B18D94A6657}" srcOrd="0" destOrd="0" presId="urn:microsoft.com/office/officeart/2005/8/layout/hList1"/>
    <dgm:cxn modelId="{D03F9BE6-54CC-4C5F-A614-6283CE1B3976}" type="presOf" srcId="{1696AF5D-B12D-4085-944C-CE1D3381172F}" destId="{D7D2762C-05E7-4EC0-84C8-3C1420245A1B}" srcOrd="0" destOrd="0" presId="urn:microsoft.com/office/officeart/2005/8/layout/hList1"/>
    <dgm:cxn modelId="{F68383F7-A1B9-4DE4-B8B4-489C3AE088A1}" type="presParOf" srcId="{E3B87168-061C-4938-AD8B-B4A86CF30EE1}" destId="{3CB09B87-3DCC-4E9D-948A-26D51BD7D8E1}" srcOrd="0" destOrd="0" presId="urn:microsoft.com/office/officeart/2005/8/layout/hList1"/>
    <dgm:cxn modelId="{067A9607-6C06-4824-87AC-9EFEA571DC47}" type="presParOf" srcId="{3CB09B87-3DCC-4E9D-948A-26D51BD7D8E1}" destId="{85BE46A3-20BC-450D-816E-12F4179FF664}" srcOrd="0" destOrd="0" presId="urn:microsoft.com/office/officeart/2005/8/layout/hList1"/>
    <dgm:cxn modelId="{01301C47-75C5-4237-8D2A-4B0294E661FA}" type="presParOf" srcId="{3CB09B87-3DCC-4E9D-948A-26D51BD7D8E1}" destId="{7004CA8B-6BBB-4FD3-B1D9-715F4A3A5E0D}" srcOrd="1" destOrd="0" presId="urn:microsoft.com/office/officeart/2005/8/layout/hList1"/>
    <dgm:cxn modelId="{3CD54C52-1BFF-42D6-A118-A41C6F9EE6E8}" type="presParOf" srcId="{E3B87168-061C-4938-AD8B-B4A86CF30EE1}" destId="{DF6AF766-8933-4A44-9582-7983D001F590}" srcOrd="1" destOrd="0" presId="urn:microsoft.com/office/officeart/2005/8/layout/hList1"/>
    <dgm:cxn modelId="{CC5EC1B7-04A1-44AF-9D8C-8FD4052E33D0}" type="presParOf" srcId="{E3B87168-061C-4938-AD8B-B4A86CF30EE1}" destId="{492152E5-FCA0-4026-AA83-F2C4647FE36E}" srcOrd="2" destOrd="0" presId="urn:microsoft.com/office/officeart/2005/8/layout/hList1"/>
    <dgm:cxn modelId="{06BAAC60-5192-4D24-A711-20FC5718DAF7}" type="presParOf" srcId="{492152E5-FCA0-4026-AA83-F2C4647FE36E}" destId="{E88C496C-56C0-46F9-993F-9C10778889AC}" srcOrd="0" destOrd="0" presId="urn:microsoft.com/office/officeart/2005/8/layout/hList1"/>
    <dgm:cxn modelId="{844559F0-E85A-4A86-9D02-CA8718A7BF94}" type="presParOf" srcId="{492152E5-FCA0-4026-AA83-F2C4647FE36E}" destId="{D2E38CC2-67C2-49D3-BB94-DB4B817B402B}" srcOrd="1" destOrd="0" presId="urn:microsoft.com/office/officeart/2005/8/layout/hList1"/>
    <dgm:cxn modelId="{64DE1BEC-8DC5-42C3-AF77-BCFC16B509F7}" type="presParOf" srcId="{E3B87168-061C-4938-AD8B-B4A86CF30EE1}" destId="{E5F05AE6-0D33-473D-8971-511DD57F2F5B}" srcOrd="3" destOrd="0" presId="urn:microsoft.com/office/officeart/2005/8/layout/hList1"/>
    <dgm:cxn modelId="{15578EB2-92F7-4B08-B6F2-EEDFCE5B7AFA}" type="presParOf" srcId="{E3B87168-061C-4938-AD8B-B4A86CF30EE1}" destId="{699E6A3B-072E-47B2-8C5A-CD51361675B4}" srcOrd="4" destOrd="0" presId="urn:microsoft.com/office/officeart/2005/8/layout/hList1"/>
    <dgm:cxn modelId="{1AC99FA4-A710-4334-BEE3-5C64C297D3A6}" type="presParOf" srcId="{699E6A3B-072E-47B2-8C5A-CD51361675B4}" destId="{D7D2762C-05E7-4EC0-84C8-3C1420245A1B}" srcOrd="0" destOrd="0" presId="urn:microsoft.com/office/officeart/2005/8/layout/hList1"/>
    <dgm:cxn modelId="{AF25E623-F15F-45B7-B064-7FED33BD75EC}" type="presParOf" srcId="{699E6A3B-072E-47B2-8C5A-CD51361675B4}" destId="{F68AB47D-4D03-4296-9DD2-8B18D94A665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BE46A3-20BC-450D-816E-12F4179FF664}">
      <dsp:nvSpPr>
        <dsp:cNvPr id="0" name=""/>
        <dsp:cNvSpPr/>
      </dsp:nvSpPr>
      <dsp:spPr>
        <a:xfrm>
          <a:off x="3286" y="616011"/>
          <a:ext cx="3203971" cy="12815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1️⃣ Discount Data (Excel File)                                                                                 </a:t>
          </a:r>
          <a:endParaRPr lang="en-IN" sz="1800" kern="1200"/>
        </a:p>
      </dsp:txBody>
      <dsp:txXfrm>
        <a:off x="3286" y="616011"/>
        <a:ext cx="3203971" cy="1281588"/>
      </dsp:txXfrm>
    </dsp:sp>
    <dsp:sp modelId="{7004CA8B-6BBB-4FD3-B1D9-715F4A3A5E0D}">
      <dsp:nvSpPr>
        <dsp:cNvPr id="0" name=""/>
        <dsp:cNvSpPr/>
      </dsp:nvSpPr>
      <dsp:spPr>
        <a:xfrm>
          <a:off x="3286" y="1897600"/>
          <a:ext cx="3203971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Month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Discount Band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Discount</a:t>
          </a:r>
          <a:endParaRPr lang="en-IN" sz="1800" kern="1200"/>
        </a:p>
      </dsp:txBody>
      <dsp:txXfrm>
        <a:off x="3286" y="1897600"/>
        <a:ext cx="3203971" cy="2854800"/>
      </dsp:txXfrm>
    </dsp:sp>
    <dsp:sp modelId="{E88C496C-56C0-46F9-993F-9C10778889AC}">
      <dsp:nvSpPr>
        <dsp:cNvPr id="0" name=""/>
        <dsp:cNvSpPr/>
      </dsp:nvSpPr>
      <dsp:spPr>
        <a:xfrm>
          <a:off x="3655814" y="616011"/>
          <a:ext cx="3203971" cy="12815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2️⃣ Product Data (Excel File)</a:t>
          </a:r>
          <a:endParaRPr lang="en-IN" sz="1800" kern="1200"/>
        </a:p>
      </dsp:txBody>
      <dsp:txXfrm>
        <a:off x="3655814" y="616011"/>
        <a:ext cx="3203971" cy="1281588"/>
      </dsp:txXfrm>
    </dsp:sp>
    <dsp:sp modelId="{D2E38CC2-67C2-49D3-BB94-DB4B817B402B}">
      <dsp:nvSpPr>
        <dsp:cNvPr id="0" name=""/>
        <dsp:cNvSpPr/>
      </dsp:nvSpPr>
      <dsp:spPr>
        <a:xfrm>
          <a:off x="3655814" y="1897600"/>
          <a:ext cx="3203971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Product ID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Product Name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Category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Cost Price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Sale Price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Brand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Description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Image URL</a:t>
          </a:r>
          <a:endParaRPr lang="en-IN" sz="1800" kern="1200"/>
        </a:p>
      </dsp:txBody>
      <dsp:txXfrm>
        <a:off x="3655814" y="1897600"/>
        <a:ext cx="3203971" cy="2854800"/>
      </dsp:txXfrm>
    </dsp:sp>
    <dsp:sp modelId="{D7D2762C-05E7-4EC0-84C8-3C1420245A1B}">
      <dsp:nvSpPr>
        <dsp:cNvPr id="0" name=""/>
        <dsp:cNvSpPr/>
      </dsp:nvSpPr>
      <dsp:spPr>
        <a:xfrm>
          <a:off x="7308341" y="616011"/>
          <a:ext cx="3203971" cy="12815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3️⃣ Sales Data (Excel File)</a:t>
          </a:r>
          <a:endParaRPr lang="en-IN" sz="1800" kern="1200"/>
        </a:p>
      </dsp:txBody>
      <dsp:txXfrm>
        <a:off x="7308341" y="616011"/>
        <a:ext cx="3203971" cy="1281588"/>
      </dsp:txXfrm>
    </dsp:sp>
    <dsp:sp modelId="{F68AB47D-4D03-4296-9DD2-8B18D94A6657}">
      <dsp:nvSpPr>
        <dsp:cNvPr id="0" name=""/>
        <dsp:cNvSpPr/>
      </dsp:nvSpPr>
      <dsp:spPr>
        <a:xfrm>
          <a:off x="7308341" y="1897600"/>
          <a:ext cx="3203971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Date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Customer Type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Country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Product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Discount Band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Units Sold</a:t>
          </a:r>
          <a:endParaRPr lang="en-IN" sz="1800" kern="1200"/>
        </a:p>
      </dsp:txBody>
      <dsp:txXfrm>
        <a:off x="7308341" y="1897600"/>
        <a:ext cx="3203971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88F3-63F8-5119-4607-5C22CB7CD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9CCD5-E1F0-8353-A3F4-D30CD60F5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00813-9F99-4142-1E48-2A506364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6AC72-2711-809F-4441-C592D055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0598B-303A-4DBF-DF20-567E950B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50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0FDE-8F2D-98F1-037F-E3CD8CB0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05258-F290-60F4-C839-D1A0CD45B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4EDCF-5164-0481-1E1B-6AF1B37D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21587-46A1-920D-1523-17C89351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A4753-FA05-CF10-6CC0-FD0FEE29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4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B138-CEEC-2071-47DB-ACC8D38B6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A3B4E-CE24-A8C8-A80C-FDA272D8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4F40D-FD83-E8C0-4D49-2C51D408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AA07F-F55E-68E8-0B34-7EC4C2D2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0F058-7EDC-AE9C-0456-2E05AB32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340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4221-4B74-54A4-4B96-AB19BE57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4B0FE-BE46-147B-17FA-0EC3CFD8C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828AB-50FD-6A6E-DBBF-97C14C32A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36DED-9210-95BA-0099-D4E1E070F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01752-D8C0-0DC6-5B58-861582B9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8D6CB-871C-00CC-27C5-EE50DBC7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90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5B19-3EBC-AB66-B00F-99FA1C5B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FE8E0-9965-3ECB-ABB4-5FDBB5BF4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8E9C6-A10B-75F1-F4E8-3B279D742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87C7E-8383-4A29-CD91-3A10CA571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F5B8A-098C-816C-15E1-9D1F18556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67857-87CD-5F3D-81B8-964166EA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E7D62-4467-E3CA-EF6D-25386A56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A55A9-EB29-9A16-4058-388C91F5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11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A743-50B3-06BF-CB1C-D8100678A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47A16-07AB-F952-F725-CEF797CD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ED2F0-93FA-8F2E-B6E1-441746DB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E08B4-DB57-7F29-A499-BF7B76F4B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305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4536D1-9078-D20A-9453-9FA3A4B9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A01AD-8093-9DAD-FCC5-4158C1AA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13715-9422-12B1-B1D2-8CBEDF28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793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F52F-BABE-295C-FB80-923FB2A1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8062-7F95-6208-FA05-8510F7346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7EBA4-3B02-B142-4B91-6244C6706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FCFA6-C47D-A0D6-8894-F51CB430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CE174-FCF3-AA4F-C264-D5327689B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14505-4272-AC98-3525-62390B84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56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52F40-B7D9-7E2F-FF53-A6E6A492B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C663E-8FEF-4B0D-7DE6-4DF6A7D1C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FE2FC-6D8E-66E8-6CBB-79D7A8B89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AE267-2727-0199-93F9-BD007A81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50BF6-EBE2-D41F-4746-ACE3B69F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B3690-E87A-0A53-568D-B8DDB49D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8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8294-63B9-CD68-913B-085FBBAD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2238B-ABCC-010E-9587-0E8C1E8E4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DDBF-E7EA-4C72-ACB3-7992A5AB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8B53-273E-FE4A-1472-CC0891B0C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AFBB-E4FC-4AAC-F39E-16186CC8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34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C3CB1-D7D5-F855-FD8A-5DE033FBE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992AD-6249-9366-8F18-B2A217F1A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CA5C-4081-96DB-1289-A2D35B9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4B58F-2719-5271-381B-96F515D8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14AE4-E80A-E6D3-E2C4-FED9A003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3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F7FB42-BDE5-FFF2-5088-94EE99A14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BCA82-CB05-90E9-64D8-482D6578D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F0462-2D3F-8DB8-BB05-AB4CDA6A8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73C5A-1D56-470D-A781-ECA4028F35C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89087-007F-1893-A5A3-AA3A2809E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2986C-5490-A5C3-4CDE-EF82D06D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08F33-E0D8-4C85-B7C3-17E1A4564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05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F43C-6FC3-C75F-F1A0-02639683F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413" y="835742"/>
            <a:ext cx="8819535" cy="1435510"/>
          </a:xfrm>
        </p:spPr>
        <p:txBody>
          <a:bodyPr>
            <a:normAutofit fontScale="90000"/>
          </a:bodyPr>
          <a:lstStyle/>
          <a:p>
            <a:r>
              <a:rPr lang="en-IN" sz="6600" b="1" dirty="0">
                <a:highlight>
                  <a:srgbClr val="00FFFF"/>
                </a:highlight>
              </a:rPr>
              <a:t>Product Analytics Dashboard</a:t>
            </a:r>
            <a:br>
              <a:rPr lang="en-IN" dirty="0"/>
            </a:br>
            <a:r>
              <a:rPr lang="en-US" sz="2700" dirty="0"/>
              <a:t>A Data-Driven Approach to Understanding Product Performance</a:t>
            </a:r>
            <a:endParaRPr lang="en-IN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29C51-B99C-3AB5-4133-4895B3DA9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6852" y="2772696"/>
            <a:ext cx="8652387" cy="248510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                      </a:t>
            </a:r>
          </a:p>
          <a:p>
            <a:r>
              <a:rPr lang="en-US" dirty="0"/>
              <a:t>A Power BI Dashboard for Product Analytics.</a:t>
            </a:r>
          </a:p>
          <a:p>
            <a:r>
              <a:rPr lang="en-US" dirty="0"/>
              <a:t>NAME: SRIKANTH MATCHA</a:t>
            </a:r>
          </a:p>
          <a:p>
            <a:r>
              <a:rPr lang="en-US" b="1" dirty="0"/>
              <a:t>Tools Used: </a:t>
            </a:r>
            <a:r>
              <a:rPr lang="en-US" dirty="0"/>
              <a:t>Excel, Microsoft SQL Server, Power BI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4EA6C2-39F8-5BAD-960A-EF6DFE793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19" y="993057"/>
            <a:ext cx="2104104" cy="1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2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93968-7848-3A3E-7899-061375A2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+mn-lt"/>
                <a:ea typeface="+mn-ea"/>
                <a:cs typeface="+mn-cs"/>
              </a:rPr>
              <a:t>Request From Management</a:t>
            </a:r>
            <a:br>
              <a:rPr lang="en-IN" sz="3600" b="1" dirty="0"/>
            </a:br>
            <a:r>
              <a:rPr lang="en-IN" sz="3600" b="1" dirty="0"/>
              <a:t>                                                           </a:t>
            </a:r>
            <a:r>
              <a:rPr lang="en-US" sz="2000" b="1" dirty="0"/>
              <a:t>Dashboard Requirement: Product Analytics Overview</a:t>
            </a:r>
            <a:br>
              <a:rPr lang="en-IN" sz="3600" b="1" dirty="0"/>
            </a:b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BB3AD-E145-404D-5989-6937A5CEE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Management Request Summary: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We need a high-level Product Analytics Dashboard that provides insights into key product</a:t>
            </a:r>
          </a:p>
          <a:p>
            <a:pPr marL="0" indent="0">
              <a:buNone/>
            </a:pPr>
            <a:r>
              <a:rPr lang="en-US" dirty="0"/>
              <a:t> performance metrics and supports strategic decision-making.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Dashboard Requirements:</a:t>
            </a:r>
          </a:p>
          <a:p>
            <a:r>
              <a:rPr lang="en-US" b="1" dirty="0"/>
              <a:t>Revenue by Country</a:t>
            </a:r>
            <a:endParaRPr lang="en-US" dirty="0"/>
          </a:p>
          <a:p>
            <a:pPr lvl="1"/>
            <a:r>
              <a:rPr lang="en-US" dirty="0"/>
              <a:t>Identify top-performing countries by revenue.</a:t>
            </a:r>
          </a:p>
          <a:p>
            <a:r>
              <a:rPr lang="en-US" b="1" dirty="0"/>
              <a:t>Revenue by Date and Year</a:t>
            </a:r>
            <a:endParaRPr lang="en-US" dirty="0"/>
          </a:p>
          <a:p>
            <a:pPr lvl="1"/>
            <a:r>
              <a:rPr lang="en-US" dirty="0"/>
              <a:t>Show monthly and yearly revenue trends.</a:t>
            </a:r>
          </a:p>
          <a:p>
            <a:r>
              <a:rPr lang="en-US" b="1" dirty="0"/>
              <a:t>Revenue Breakdown by Discount Band</a:t>
            </a:r>
            <a:endParaRPr lang="en-US" dirty="0"/>
          </a:p>
          <a:p>
            <a:pPr lvl="1"/>
            <a:r>
              <a:rPr lang="en-US" dirty="0"/>
              <a:t>How revenue is distributed across discount categories.</a:t>
            </a:r>
          </a:p>
          <a:p>
            <a:r>
              <a:rPr lang="en-US" b="1" dirty="0"/>
              <a:t>Detailed Table View</a:t>
            </a:r>
            <a:endParaRPr lang="en-US" dirty="0"/>
          </a:p>
          <a:p>
            <a:pPr lvl="1"/>
            <a:r>
              <a:rPr lang="en-US" dirty="0"/>
              <a:t>Revenue and profit breakdown by country and year.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34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76809-3F88-6B47-2B80-08C90A7A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600" b="1" dirty="0"/>
            </a:br>
            <a:r>
              <a:rPr lang="en-US" sz="3600" b="1" dirty="0">
                <a:latin typeface="+mn-lt"/>
                <a:ea typeface="+mn-ea"/>
                <a:cs typeface="+mn-cs"/>
              </a:rPr>
              <a:t>Project</a:t>
            </a:r>
            <a:r>
              <a:rPr lang="en-US" sz="3600" b="1" dirty="0"/>
              <a:t> </a:t>
            </a:r>
            <a:r>
              <a:rPr lang="en-US" sz="3600" b="1" dirty="0">
                <a:latin typeface="+mn-lt"/>
                <a:ea typeface="+mn-ea"/>
                <a:cs typeface="+mn-cs"/>
              </a:rPr>
              <a:t>Workflow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29D52-D6D9-EF7D-938D-8F42C1702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Build the Database</a:t>
            </a:r>
            <a:br>
              <a:rPr lang="en-US" dirty="0"/>
            </a:br>
            <a:r>
              <a:rPr lang="en-US" dirty="0"/>
              <a:t>• Imported raw Excel data into SQL Server and structured it for analysis.</a:t>
            </a:r>
          </a:p>
          <a:p>
            <a:r>
              <a:rPr lang="en-US" b="1" dirty="0"/>
              <a:t>2. Write SQL Queries</a:t>
            </a:r>
            <a:br>
              <a:rPr lang="en-US" dirty="0"/>
            </a:br>
            <a:r>
              <a:rPr lang="en-US" dirty="0"/>
              <a:t>• Cleaned, transformed, and prepared the data using SQL.</a:t>
            </a:r>
          </a:p>
          <a:p>
            <a:r>
              <a:rPr lang="en-US" b="1" dirty="0"/>
              <a:t>3. Connect to Power BI</a:t>
            </a:r>
            <a:br>
              <a:rPr lang="en-US" dirty="0"/>
            </a:br>
            <a:r>
              <a:rPr lang="en-US" dirty="0"/>
              <a:t>• Loaded SQL data into Power BI for modeling.</a:t>
            </a:r>
          </a:p>
          <a:p>
            <a:r>
              <a:rPr lang="en-US" b="1" dirty="0"/>
              <a:t>4. Create the Dashboard</a:t>
            </a:r>
            <a:br>
              <a:rPr lang="en-US" dirty="0"/>
            </a:br>
            <a:r>
              <a:rPr lang="en-US" dirty="0"/>
              <a:t>• Built reports, visualizations, KPIs, and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0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99353-FD6F-FC17-CB77-A49348A4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600" b="1" dirty="0">
                <a:latin typeface="+mn-lt"/>
                <a:ea typeface="+mn-ea"/>
                <a:cs typeface="+mn-cs"/>
              </a:rPr>
            </a:br>
            <a:r>
              <a:rPr lang="en-US" sz="3600" b="1" dirty="0" err="1">
                <a:latin typeface="+mn-lt"/>
                <a:ea typeface="+mn-ea"/>
                <a:cs typeface="+mn-cs"/>
              </a:rPr>
              <a:t>Asces</a:t>
            </a:r>
            <a:r>
              <a:rPr lang="en-US" sz="3600" b="1" dirty="0">
                <a:latin typeface="+mn-lt"/>
                <a:ea typeface="+mn-ea"/>
                <a:cs typeface="+mn-cs"/>
              </a:rPr>
              <a:t> Company Profile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2869E-EFDB-CF5E-CBDF-6FD0995FC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/>
              <a:t>Asces</a:t>
            </a:r>
            <a:r>
              <a:rPr lang="en-US" b="1" dirty="0"/>
              <a:t> Sound — Company Overview</a:t>
            </a:r>
          </a:p>
          <a:p>
            <a:r>
              <a:rPr lang="en-US" dirty="0"/>
              <a:t>A leading innovator in the </a:t>
            </a:r>
            <a:r>
              <a:rPr lang="en-US" b="1" dirty="0"/>
              <a:t>audio technology industry</a:t>
            </a:r>
            <a:r>
              <a:rPr lang="en-US" dirty="0"/>
              <a:t>, delivering high-quality audio solutions for professionals and enthusiasts.</a:t>
            </a:r>
          </a:p>
          <a:p>
            <a:r>
              <a:rPr lang="en-US" dirty="0"/>
              <a:t>Known for exceptional </a:t>
            </a:r>
            <a:r>
              <a:rPr lang="en-US" b="1" dirty="0"/>
              <a:t>sound clarity, advanced engineering, and user-friendly designs</a:t>
            </a:r>
            <a:r>
              <a:rPr lang="en-US" dirty="0"/>
              <a:t>.</a:t>
            </a:r>
          </a:p>
          <a:p>
            <a:r>
              <a:rPr lang="en-US" dirty="0"/>
              <a:t>Trusted by </a:t>
            </a:r>
            <a:r>
              <a:rPr lang="en-US" b="1" dirty="0"/>
              <a:t>musicians, content creators, and audio engineers</a:t>
            </a:r>
            <a:r>
              <a:rPr lang="en-US" dirty="0"/>
              <a:t> worldwide.</a:t>
            </a:r>
          </a:p>
          <a:p>
            <a:r>
              <a:rPr lang="en-US" dirty="0"/>
              <a:t>Specializes in </a:t>
            </a:r>
            <a:r>
              <a:rPr lang="en-US" b="1" dirty="0"/>
              <a:t>audio interfaces, microphones, and accessories</a:t>
            </a:r>
            <a:r>
              <a:rPr lang="en-US" dirty="0"/>
              <a:t> built with cutting-edge technology and durability.</a:t>
            </a:r>
          </a:p>
          <a:p>
            <a:r>
              <a:rPr lang="en-US" dirty="0"/>
              <a:t>Recognized for flagship products that </a:t>
            </a:r>
            <a:r>
              <a:rPr lang="en-US" b="1" dirty="0"/>
              <a:t>enhance creative workflows</a:t>
            </a:r>
            <a:r>
              <a:rPr lang="en-US" dirty="0"/>
              <a:t> and deliver superior sound performance.</a:t>
            </a:r>
          </a:p>
          <a:p>
            <a:r>
              <a:rPr lang="en-US" dirty="0"/>
              <a:t>Driven by a passion for innovation, we empower customers with tools that </a:t>
            </a:r>
            <a:r>
              <a:rPr lang="en-US" b="1" dirty="0"/>
              <a:t>inspire creativity and redefine audio possibilities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463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8F15-8F22-4E9E-68DA-BA385861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 </a:t>
            </a:r>
            <a:br>
              <a:rPr lang="en-US" b="1" dirty="0"/>
            </a:br>
            <a:r>
              <a:rPr lang="en-US" sz="3600" b="1" dirty="0">
                <a:latin typeface="+mn-lt"/>
                <a:ea typeface="+mn-ea"/>
                <a:cs typeface="+mn-cs"/>
              </a:rPr>
              <a:t>Data Sources Used in the Project</a:t>
            </a:r>
            <a:br>
              <a:rPr lang="en-US" sz="3600" b="1" dirty="0">
                <a:latin typeface="+mn-lt"/>
                <a:ea typeface="+mn-ea"/>
                <a:cs typeface="+mn-cs"/>
              </a:rPr>
            </a:br>
            <a:endParaRPr lang="en-IN" sz="36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2F4B86-4384-9B50-0011-74AE7D1B1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2448031"/>
              </p:ext>
            </p:extLst>
          </p:nvPr>
        </p:nvGraphicFramePr>
        <p:xfrm>
          <a:off x="838200" y="953731"/>
          <a:ext cx="10515600" cy="5368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9724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5E72-8186-2E3D-C394-4E36D089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200" b="1" dirty="0">
                <a:latin typeface="+mn-lt"/>
                <a:ea typeface="+mn-ea"/>
                <a:cs typeface="+mn-cs"/>
              </a:rPr>
            </a:br>
            <a:r>
              <a:rPr lang="en-US" sz="3200" b="1" dirty="0">
                <a:latin typeface="+mn-lt"/>
                <a:ea typeface="+mn-ea"/>
                <a:cs typeface="+mn-cs"/>
              </a:rPr>
              <a:t>Importing Data into SQL Server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F96A8-1225-ACF2-D061-EF1132353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📌 Import Process</a:t>
            </a:r>
          </a:p>
          <a:p>
            <a:r>
              <a:rPr lang="en-US" sz="2400" dirty="0"/>
              <a:t>All three Excel files (</a:t>
            </a:r>
            <a:r>
              <a:rPr lang="en-US" sz="2400" b="1" dirty="0"/>
              <a:t>Discount Data</a:t>
            </a:r>
            <a:r>
              <a:rPr lang="en-US" sz="2400" dirty="0"/>
              <a:t>, </a:t>
            </a:r>
            <a:r>
              <a:rPr lang="en-US" sz="2400" b="1" dirty="0"/>
              <a:t>Product Data</a:t>
            </a:r>
            <a:r>
              <a:rPr lang="en-US" sz="2400" dirty="0"/>
              <a:t>, </a:t>
            </a:r>
            <a:r>
              <a:rPr lang="en-US" sz="2400" b="1" dirty="0"/>
              <a:t>Sales Data</a:t>
            </a:r>
            <a:r>
              <a:rPr lang="en-US" sz="2400" dirty="0"/>
              <a:t>) were </a:t>
            </a:r>
            <a:r>
              <a:rPr lang="en-US" sz="2400" b="1" dirty="0"/>
              <a:t>imported into SQL Server Management Studio (SSMS)</a:t>
            </a:r>
            <a:r>
              <a:rPr lang="en-US" sz="2400" dirty="0"/>
              <a:t>.</a:t>
            </a:r>
          </a:p>
          <a:p>
            <a:r>
              <a:rPr lang="en-US" sz="2400" dirty="0"/>
              <a:t>Tables were cleaned and structured properly to ensure smooth analysis.</a:t>
            </a:r>
          </a:p>
          <a:p>
            <a:r>
              <a:rPr lang="en-US" b="1" dirty="0"/>
              <a:t>📂 Tables Loaded Into SQL Server</a:t>
            </a:r>
          </a:p>
          <a:p>
            <a:r>
              <a:rPr lang="en-US" sz="2400" dirty="0"/>
              <a:t>Discount Table</a:t>
            </a:r>
          </a:p>
          <a:p>
            <a:r>
              <a:rPr lang="en-US" sz="2400" dirty="0"/>
              <a:t>Product Table</a:t>
            </a:r>
          </a:p>
          <a:p>
            <a:r>
              <a:rPr lang="en-US" sz="2400" dirty="0"/>
              <a:t>Product Sales Table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8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8155-DD6F-AE37-10DF-62DF09A02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729"/>
            <a:ext cx="10515600" cy="565355"/>
          </a:xfrm>
        </p:spPr>
        <p:txBody>
          <a:bodyPr>
            <a:normAutofit/>
          </a:bodyPr>
          <a:lstStyle/>
          <a:p>
            <a:pPr algn="ctr"/>
            <a:r>
              <a:rPr lang="en-US" sz="2900" b="1" dirty="0">
                <a:latin typeface="+mn-lt"/>
                <a:ea typeface="+mn-ea"/>
                <a:cs typeface="+mn-cs"/>
              </a:rPr>
              <a:t>SQL</a:t>
            </a:r>
            <a:r>
              <a:rPr lang="en-US" sz="3200" b="1" dirty="0"/>
              <a:t> </a:t>
            </a:r>
            <a:r>
              <a:rPr lang="en-US" sz="2900" b="1" dirty="0">
                <a:latin typeface="+mn-lt"/>
                <a:ea typeface="+mn-ea"/>
                <a:cs typeface="+mn-cs"/>
              </a:rPr>
              <a:t>Query</a:t>
            </a:r>
            <a:r>
              <a:rPr lang="en-US" sz="3200" b="1" dirty="0"/>
              <a:t> </a:t>
            </a:r>
            <a:r>
              <a:rPr lang="en-US" sz="2900" b="1" dirty="0">
                <a:latin typeface="+mn-lt"/>
                <a:ea typeface="+mn-ea"/>
                <a:cs typeface="+mn-cs"/>
              </a:rPr>
              <a:t>Used</a:t>
            </a:r>
            <a:r>
              <a:rPr lang="en-US" sz="3200" b="1" dirty="0"/>
              <a:t> </a:t>
            </a:r>
            <a:r>
              <a:rPr lang="en-US" sz="2900" b="1" dirty="0">
                <a:latin typeface="+mn-lt"/>
                <a:ea typeface="+mn-ea"/>
                <a:cs typeface="+mn-cs"/>
              </a:rPr>
              <a:t>for</a:t>
            </a:r>
            <a:r>
              <a:rPr lang="en-US" sz="3200" b="1" dirty="0"/>
              <a:t> </a:t>
            </a:r>
            <a:r>
              <a:rPr lang="en-US" sz="2900" b="1" dirty="0">
                <a:latin typeface="+mn-lt"/>
                <a:ea typeface="+mn-ea"/>
                <a:cs typeface="+mn-cs"/>
              </a:rPr>
              <a:t>Data</a:t>
            </a:r>
            <a:r>
              <a:rPr lang="en-US" sz="3200" b="1" dirty="0"/>
              <a:t> </a:t>
            </a:r>
            <a:r>
              <a:rPr lang="en-US" sz="2900" b="1" dirty="0">
                <a:latin typeface="+mn-lt"/>
                <a:ea typeface="+mn-ea"/>
                <a:cs typeface="+mn-cs"/>
              </a:rPr>
              <a:t>Preparation</a:t>
            </a:r>
            <a:endParaRPr lang="en-IN" sz="2900" b="1" dirty="0"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51ED8-9539-E8EE-1483-E73EF87B0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426"/>
            <a:ext cx="10515600" cy="59878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00" dirty="0"/>
              <a:t>with </a:t>
            </a:r>
            <a:r>
              <a:rPr lang="en-IN" sz="1000" dirty="0" err="1"/>
              <a:t>cte</a:t>
            </a:r>
            <a:r>
              <a:rPr lang="en-IN" sz="1000" dirty="0"/>
              <a:t> as (</a:t>
            </a:r>
          </a:p>
          <a:p>
            <a:pPr marL="0" indent="0">
              <a:buNone/>
            </a:pPr>
            <a:r>
              <a:rPr lang="en-IN" sz="1000" dirty="0"/>
              <a:t>select </a:t>
            </a:r>
            <a:r>
              <a:rPr lang="en-IN" sz="1000" dirty="0" err="1"/>
              <a:t>a.Product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a.Category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a.Brand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a.Description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a.Sale_Price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a.Cost_Price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a.Image_url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b.Date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b.Customer_Type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b.Discount_Band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IN" sz="1000" dirty="0" err="1"/>
              <a:t>b.Units_Sold</a:t>
            </a:r>
            <a:r>
              <a:rPr lang="en-IN" sz="1000" dirty="0"/>
              <a:t>,</a:t>
            </a:r>
          </a:p>
          <a:p>
            <a:pPr marL="0" indent="0">
              <a:buNone/>
            </a:pPr>
            <a:r>
              <a:rPr lang="en-US" sz="1000" dirty="0"/>
              <a:t>(</a:t>
            </a:r>
            <a:r>
              <a:rPr lang="en-US" sz="1000" dirty="0" err="1"/>
              <a:t>Sale_Price</a:t>
            </a:r>
            <a:r>
              <a:rPr lang="en-US" sz="1000" dirty="0"/>
              <a:t>*</a:t>
            </a:r>
            <a:r>
              <a:rPr lang="en-US" sz="1000" dirty="0" err="1"/>
              <a:t>Units_Sold</a:t>
            </a:r>
            <a:r>
              <a:rPr lang="en-US" sz="1000" dirty="0"/>
              <a:t>)as revenue,</a:t>
            </a:r>
          </a:p>
          <a:p>
            <a:pPr marL="0" indent="0">
              <a:buNone/>
            </a:pPr>
            <a:r>
              <a:rPr lang="en-US" sz="1000" dirty="0"/>
              <a:t>(</a:t>
            </a:r>
            <a:r>
              <a:rPr lang="en-US" sz="1000" dirty="0" err="1"/>
              <a:t>Cost_Price</a:t>
            </a:r>
            <a:r>
              <a:rPr lang="en-US" sz="1000" dirty="0"/>
              <a:t>*</a:t>
            </a:r>
            <a:r>
              <a:rPr lang="en-US" sz="1000" dirty="0" err="1"/>
              <a:t>Units_Sold</a:t>
            </a:r>
            <a:r>
              <a:rPr lang="en-US" sz="1000" dirty="0"/>
              <a:t>)as </a:t>
            </a:r>
            <a:r>
              <a:rPr lang="en-US" sz="1000" dirty="0" err="1"/>
              <a:t>Total_Cost</a:t>
            </a:r>
            <a:r>
              <a:rPr lang="en-US" sz="1000" dirty="0"/>
              <a:t>,</a:t>
            </a:r>
          </a:p>
          <a:p>
            <a:pPr marL="0" indent="0">
              <a:buNone/>
            </a:pPr>
            <a:r>
              <a:rPr lang="en-US" sz="1000" dirty="0"/>
              <a:t>format(</a:t>
            </a:r>
            <a:r>
              <a:rPr lang="en-US" sz="1000" dirty="0" err="1"/>
              <a:t>date,'MMMM</a:t>
            </a:r>
            <a:r>
              <a:rPr lang="en-US" sz="1000" dirty="0"/>
              <a:t>')as month,</a:t>
            </a:r>
          </a:p>
          <a:p>
            <a:pPr marL="0" indent="0">
              <a:buNone/>
            </a:pPr>
            <a:r>
              <a:rPr lang="en-US" sz="1000" dirty="0"/>
              <a:t>format(date,'</a:t>
            </a:r>
            <a:r>
              <a:rPr lang="en-US" sz="1000" dirty="0" err="1"/>
              <a:t>yyyy</a:t>
            </a:r>
            <a:r>
              <a:rPr lang="en-US" sz="1000" dirty="0"/>
              <a:t>')as Year</a:t>
            </a:r>
          </a:p>
          <a:p>
            <a:pPr marL="0" indent="0">
              <a:buNone/>
            </a:pPr>
            <a:r>
              <a:rPr lang="en-US" sz="1000" dirty="0"/>
              <a:t>from </a:t>
            </a:r>
            <a:r>
              <a:rPr lang="en-US" sz="1000" dirty="0" err="1"/>
              <a:t>Product_data</a:t>
            </a:r>
            <a:r>
              <a:rPr lang="en-US" sz="1000" dirty="0"/>
              <a:t> as a</a:t>
            </a:r>
          </a:p>
          <a:p>
            <a:pPr marL="0" indent="0">
              <a:buNone/>
            </a:pPr>
            <a:r>
              <a:rPr lang="en-US" sz="1000" dirty="0"/>
              <a:t>join </a:t>
            </a:r>
            <a:r>
              <a:rPr lang="en-US" sz="1000" dirty="0" err="1"/>
              <a:t>product_sales</a:t>
            </a:r>
            <a:r>
              <a:rPr lang="en-US" sz="1000" dirty="0"/>
              <a:t> as b on </a:t>
            </a:r>
            <a:r>
              <a:rPr lang="en-US" sz="1000" dirty="0" err="1"/>
              <a:t>a.Product_ID</a:t>
            </a:r>
            <a:r>
              <a:rPr lang="en-US" sz="1000" dirty="0"/>
              <a:t>=</a:t>
            </a:r>
            <a:r>
              <a:rPr lang="en-US" sz="1000" dirty="0" err="1"/>
              <a:t>b.Product</a:t>
            </a:r>
            <a:r>
              <a:rPr lang="en-US" sz="1000" dirty="0"/>
              <a:t>)</a:t>
            </a:r>
          </a:p>
          <a:p>
            <a:endParaRPr lang="en-IN" sz="1000" dirty="0"/>
          </a:p>
          <a:p>
            <a:pPr marL="0" indent="0">
              <a:buNone/>
            </a:pPr>
            <a:r>
              <a:rPr lang="en-IN" sz="1000" dirty="0"/>
              <a:t>select*</a:t>
            </a:r>
          </a:p>
          <a:p>
            <a:pPr marL="0" indent="0">
              <a:buNone/>
            </a:pPr>
            <a:r>
              <a:rPr lang="en-IN" sz="1000" dirty="0"/>
              <a:t>,(1-Discount*1.0/100)*revenue as </a:t>
            </a:r>
            <a:r>
              <a:rPr lang="en-IN" sz="1000" dirty="0" err="1"/>
              <a:t>Discount_revenue</a:t>
            </a:r>
            <a:endParaRPr lang="en-IN" sz="1000" dirty="0"/>
          </a:p>
          <a:p>
            <a:pPr marL="0" indent="0">
              <a:buNone/>
            </a:pPr>
            <a:r>
              <a:rPr lang="en-IN" sz="1000" dirty="0"/>
              <a:t>from </a:t>
            </a:r>
            <a:r>
              <a:rPr lang="en-IN" sz="1000" dirty="0" err="1"/>
              <a:t>cte</a:t>
            </a:r>
            <a:r>
              <a:rPr lang="en-IN" sz="1000" dirty="0"/>
              <a:t> a</a:t>
            </a:r>
          </a:p>
          <a:p>
            <a:pPr marL="0" indent="0">
              <a:buNone/>
            </a:pPr>
            <a:r>
              <a:rPr lang="en-US" sz="1000" dirty="0"/>
              <a:t>join </a:t>
            </a:r>
            <a:r>
              <a:rPr lang="en-US" sz="1000" dirty="0" err="1"/>
              <a:t>discount_data</a:t>
            </a:r>
            <a:r>
              <a:rPr lang="en-US" sz="1000" dirty="0"/>
              <a:t> b on </a:t>
            </a:r>
            <a:r>
              <a:rPr lang="en-US" sz="1000" dirty="0" err="1"/>
              <a:t>a.Discount_Band</a:t>
            </a:r>
            <a:r>
              <a:rPr lang="en-US" sz="1000" dirty="0"/>
              <a:t>=</a:t>
            </a:r>
            <a:r>
              <a:rPr lang="en-US" sz="1000" dirty="0" err="1"/>
              <a:t>b.Discount_Band</a:t>
            </a:r>
            <a:r>
              <a:rPr lang="en-US" sz="1000" dirty="0"/>
              <a:t> and </a:t>
            </a:r>
            <a:r>
              <a:rPr lang="en-US" sz="1000" dirty="0" err="1"/>
              <a:t>a.month</a:t>
            </a:r>
            <a:r>
              <a:rPr lang="en-US" sz="1000" dirty="0"/>
              <a:t>=</a:t>
            </a:r>
            <a:r>
              <a:rPr lang="en-US" sz="1000" dirty="0" err="1"/>
              <a:t>b.Month</a:t>
            </a:r>
            <a:endParaRPr lang="en-US" sz="1000" dirty="0"/>
          </a:p>
          <a:p>
            <a:endParaRPr lang="en-IN" sz="1000" dirty="0"/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610195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1EA27-89D9-A8FE-2F0F-E264A6C2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200" b="1" dirty="0"/>
            </a:br>
            <a:r>
              <a:rPr lang="en-US" sz="3200" b="1" dirty="0">
                <a:latin typeface="+mn-lt"/>
                <a:ea typeface="+mn-ea"/>
                <a:cs typeface="+mn-cs"/>
              </a:rPr>
              <a:t>Importing</a:t>
            </a:r>
            <a:r>
              <a:rPr lang="en-US" sz="3200" b="1" dirty="0"/>
              <a:t> </a:t>
            </a:r>
            <a:r>
              <a:rPr lang="en-US" sz="3200" b="1" dirty="0">
                <a:latin typeface="+mn-lt"/>
                <a:ea typeface="+mn-ea"/>
                <a:cs typeface="+mn-cs"/>
              </a:rPr>
              <a:t>SQL Data into Power</a:t>
            </a:r>
            <a:r>
              <a:rPr lang="en-US" sz="3200" b="1" dirty="0"/>
              <a:t> </a:t>
            </a:r>
            <a:r>
              <a:rPr lang="en-US" sz="3200" b="1" dirty="0">
                <a:latin typeface="+mn-lt"/>
                <a:ea typeface="+mn-ea"/>
                <a:cs typeface="+mn-cs"/>
              </a:rPr>
              <a:t>BI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B423B-649E-ADD3-27FB-BCFDBF3E8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097"/>
            <a:ext cx="10515600" cy="4013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Importing SQL Data into Power BI</a:t>
            </a:r>
          </a:p>
          <a:p>
            <a:r>
              <a:rPr lang="en-US" sz="2400" dirty="0"/>
              <a:t>After writing and validating the SQL query in SQL Server Management Studio (SSMS), I connected Power BI to SQL Server.</a:t>
            </a:r>
          </a:p>
          <a:p>
            <a:r>
              <a:rPr lang="en-US" sz="2400" dirty="0"/>
              <a:t>I used </a:t>
            </a:r>
            <a:r>
              <a:rPr lang="en-US" sz="2400" b="1" dirty="0"/>
              <a:t>Get Data → SQL Server</a:t>
            </a:r>
            <a:r>
              <a:rPr lang="en-US" sz="2400" dirty="0"/>
              <a:t> option in Power BI.</a:t>
            </a:r>
          </a:p>
          <a:p>
            <a:r>
              <a:rPr lang="en-US" sz="2400" dirty="0"/>
              <a:t>I pasted my SQL query inside the </a:t>
            </a:r>
            <a:r>
              <a:rPr lang="en-US" sz="2400" b="1" dirty="0"/>
              <a:t>Advanced Options → SQL Statement</a:t>
            </a:r>
            <a:r>
              <a:rPr lang="en-US" sz="2400" dirty="0"/>
              <a:t> input box.</a:t>
            </a:r>
          </a:p>
          <a:p>
            <a:r>
              <a:rPr lang="en-US" sz="2400" dirty="0"/>
              <a:t>Power BI executed the SQL query and converted the results into tables.</a:t>
            </a:r>
          </a:p>
          <a:p>
            <a:r>
              <a:rPr lang="en-US" sz="2400" dirty="0"/>
              <a:t>These tables were then loaded into Power BI for further </a:t>
            </a:r>
            <a:r>
              <a:rPr lang="en-US" sz="2400" b="1" dirty="0"/>
              <a:t>data cleaning, modeling, and visualization</a:t>
            </a:r>
            <a:r>
              <a:rPr lang="en-US" sz="2400" dirty="0"/>
              <a:t>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0445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EDC89-0EDE-0792-A76F-046EAA54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200" b="1" dirty="0">
                <a:latin typeface="+mn-lt"/>
                <a:ea typeface="+mn-ea"/>
                <a:cs typeface="+mn-cs"/>
              </a:rPr>
            </a:br>
            <a:r>
              <a:rPr lang="en-US" sz="3200" b="1" dirty="0">
                <a:latin typeface="+mn-lt"/>
                <a:ea typeface="+mn-ea"/>
                <a:cs typeface="+mn-cs"/>
              </a:rPr>
              <a:t>Data</a:t>
            </a:r>
            <a:r>
              <a:rPr lang="en-US" sz="3200" b="1" dirty="0"/>
              <a:t> </a:t>
            </a:r>
            <a:r>
              <a:rPr lang="en-US" sz="3200" b="1" dirty="0">
                <a:latin typeface="+mn-lt"/>
                <a:ea typeface="+mn-ea"/>
                <a:cs typeface="+mn-cs"/>
              </a:rPr>
              <a:t>Cleaning</a:t>
            </a:r>
            <a:r>
              <a:rPr lang="en-US" sz="3200" b="1" dirty="0"/>
              <a:t> &amp; </a:t>
            </a:r>
            <a:r>
              <a:rPr lang="en-US" sz="3200" b="1" dirty="0">
                <a:latin typeface="+mn-lt"/>
                <a:ea typeface="+mn-ea"/>
                <a:cs typeface="+mn-cs"/>
              </a:rPr>
              <a:t>Transformation in</a:t>
            </a:r>
            <a:r>
              <a:rPr lang="en-US" sz="3200" b="1" dirty="0"/>
              <a:t> </a:t>
            </a:r>
            <a:r>
              <a:rPr lang="en-US" sz="3200" b="1" dirty="0">
                <a:latin typeface="+mn-lt"/>
                <a:ea typeface="+mn-ea"/>
                <a:cs typeface="+mn-cs"/>
              </a:rPr>
              <a:t>Power</a:t>
            </a:r>
            <a:r>
              <a:rPr lang="en-US" sz="3200" b="1" dirty="0"/>
              <a:t> </a:t>
            </a:r>
            <a:r>
              <a:rPr lang="en-US" sz="3200" b="1" dirty="0">
                <a:latin typeface="+mn-lt"/>
                <a:ea typeface="+mn-ea"/>
                <a:cs typeface="+mn-cs"/>
              </a:rPr>
              <a:t>BI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0E4B-4597-4D5C-BB3A-0ED2C8231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r>
              <a:rPr lang="en-US" sz="2400" b="1" dirty="0"/>
              <a:t>Data Cleaning &amp; Transformations (Power Query)</a:t>
            </a:r>
          </a:p>
          <a:p>
            <a:r>
              <a:rPr lang="en-US" sz="2400" dirty="0"/>
              <a:t>After loading the SQL query output into Power BI, I opened </a:t>
            </a:r>
            <a:r>
              <a:rPr lang="en-US" sz="2400" b="1" dirty="0"/>
              <a:t>Power Query Editor</a:t>
            </a:r>
            <a:r>
              <a:rPr lang="en-US" sz="2400" dirty="0"/>
              <a:t>.</a:t>
            </a:r>
          </a:p>
          <a:p>
            <a:r>
              <a:rPr lang="en-US" sz="2400" dirty="0"/>
              <a:t>Performed essential data cleaning steps such as:</a:t>
            </a:r>
          </a:p>
          <a:p>
            <a:pPr lvl="1"/>
            <a:r>
              <a:rPr lang="en-US" dirty="0"/>
              <a:t>Removing unnecessary columns</a:t>
            </a:r>
          </a:p>
          <a:p>
            <a:pPr lvl="1"/>
            <a:r>
              <a:rPr lang="en-US" dirty="0"/>
              <a:t>Fixing data types (Date, Text, Whole Number, Decimal)</a:t>
            </a:r>
          </a:p>
          <a:p>
            <a:pPr lvl="1"/>
            <a:r>
              <a:rPr lang="en-US" dirty="0"/>
              <a:t>Renaming columns for clarity</a:t>
            </a:r>
          </a:p>
          <a:p>
            <a:pPr lvl="1"/>
            <a:r>
              <a:rPr lang="en-US" dirty="0"/>
              <a:t>Handling missing or null values</a:t>
            </a:r>
          </a:p>
          <a:p>
            <a:pPr lvl="1"/>
            <a:r>
              <a:rPr lang="en-US" dirty="0"/>
              <a:t>Creating calculated columns if needed</a:t>
            </a:r>
          </a:p>
          <a:p>
            <a:r>
              <a:rPr lang="en-US" sz="2400" dirty="0"/>
              <a:t>Ensured all three tables (Sales, Products, Discounts) were clean and ready for modeling.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31088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3AB7B-0C59-6BAD-8B55-5189E507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200" b="1" dirty="0">
                <a:latin typeface="+mn-lt"/>
                <a:ea typeface="+mn-ea"/>
                <a:cs typeface="+mn-cs"/>
              </a:rPr>
            </a:br>
            <a:r>
              <a:rPr lang="en-US" sz="3600" b="1" dirty="0">
                <a:latin typeface="+mn-lt"/>
                <a:ea typeface="+mn-ea"/>
                <a:cs typeface="+mn-cs"/>
              </a:rPr>
              <a:t>Building</a:t>
            </a:r>
            <a:r>
              <a:rPr lang="en-US" sz="3600" b="1" dirty="0"/>
              <a:t> </a:t>
            </a:r>
            <a:r>
              <a:rPr lang="en-US" sz="3600" b="1" dirty="0">
                <a:latin typeface="+mn-lt"/>
                <a:ea typeface="+mn-ea"/>
                <a:cs typeface="+mn-cs"/>
              </a:rPr>
              <a:t>the</a:t>
            </a:r>
            <a:r>
              <a:rPr lang="en-US" sz="3600" b="1" dirty="0"/>
              <a:t> </a:t>
            </a:r>
            <a:r>
              <a:rPr lang="en-US" sz="3600" b="1" dirty="0">
                <a:latin typeface="+mn-lt"/>
                <a:ea typeface="+mn-ea"/>
                <a:cs typeface="+mn-cs"/>
              </a:rPr>
              <a:t>Dashboard in</a:t>
            </a:r>
            <a:r>
              <a:rPr lang="en-US" sz="3600" b="1" dirty="0"/>
              <a:t> </a:t>
            </a:r>
            <a:r>
              <a:rPr lang="en-US" sz="3600" b="1" dirty="0">
                <a:latin typeface="+mn-lt"/>
                <a:ea typeface="+mn-ea"/>
                <a:cs typeface="+mn-cs"/>
              </a:rPr>
              <a:t>Power</a:t>
            </a:r>
            <a:r>
              <a:rPr lang="en-US" sz="3600" b="1" dirty="0"/>
              <a:t> </a:t>
            </a:r>
            <a:r>
              <a:rPr lang="en-US" sz="3600" b="1" dirty="0">
                <a:latin typeface="+mn-lt"/>
                <a:ea typeface="+mn-ea"/>
                <a:cs typeface="+mn-cs"/>
              </a:rPr>
              <a:t>BI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87477-9C77-FA50-1DF4-DAF1FB01F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042219"/>
            <a:ext cx="11503742" cy="571254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Dashboard Development in Power BI</a:t>
            </a:r>
          </a:p>
          <a:p>
            <a:r>
              <a:rPr lang="en-US" dirty="0"/>
              <a:t>After importing and transforming the SQL data into Power BI, I started the process of building the dashboard.</a:t>
            </a:r>
            <a:br>
              <a:rPr lang="en-US" dirty="0"/>
            </a:br>
            <a:r>
              <a:rPr lang="en-US" dirty="0"/>
              <a:t>In this step, I performed the following tasks:</a:t>
            </a:r>
          </a:p>
          <a:p>
            <a:pPr marL="0" indent="0">
              <a:buNone/>
            </a:pPr>
            <a:r>
              <a:rPr lang="en-US" b="1" dirty="0"/>
              <a:t>Created Visualizations for Key Insights</a:t>
            </a:r>
          </a:p>
          <a:p>
            <a:r>
              <a:rPr lang="en-US" dirty="0"/>
              <a:t>Used </a:t>
            </a:r>
            <a:r>
              <a:rPr lang="en-US" b="1" dirty="0"/>
              <a:t>bar charts</a:t>
            </a:r>
            <a:r>
              <a:rPr lang="en-US" dirty="0"/>
              <a:t> to show revenue by country</a:t>
            </a:r>
          </a:p>
          <a:p>
            <a:r>
              <a:rPr lang="en-US" dirty="0"/>
              <a:t>Used </a:t>
            </a:r>
            <a:r>
              <a:rPr lang="en-US" b="1" dirty="0"/>
              <a:t>column charts</a:t>
            </a:r>
            <a:r>
              <a:rPr lang="en-US" dirty="0"/>
              <a:t> to show monthly and yearly revenue patterns</a:t>
            </a:r>
          </a:p>
          <a:p>
            <a:r>
              <a:rPr lang="en-US" dirty="0"/>
              <a:t>Added a </a:t>
            </a:r>
            <a:r>
              <a:rPr lang="en-US" b="1" dirty="0"/>
              <a:t>donut chart</a:t>
            </a:r>
            <a:r>
              <a:rPr lang="en-US" dirty="0"/>
              <a:t> for discount band breakdown</a:t>
            </a:r>
          </a:p>
          <a:p>
            <a:r>
              <a:rPr lang="en-US" dirty="0"/>
              <a:t>Added a </a:t>
            </a:r>
            <a:r>
              <a:rPr lang="en-US" b="1" dirty="0"/>
              <a:t>table visual</a:t>
            </a:r>
            <a:r>
              <a:rPr lang="en-US" dirty="0"/>
              <a:t> to show customer type, revenue, and profit comparison</a:t>
            </a:r>
          </a:p>
          <a:p>
            <a:r>
              <a:rPr lang="en-US" dirty="0"/>
              <a:t>Added </a:t>
            </a:r>
            <a:r>
              <a:rPr lang="en-US" b="1" dirty="0"/>
              <a:t>product images and descriptions</a:t>
            </a:r>
            <a:r>
              <a:rPr lang="en-US" dirty="0"/>
              <a:t> using the Image URL and text fields</a:t>
            </a:r>
          </a:p>
          <a:p>
            <a:pPr marL="0" indent="0">
              <a:buNone/>
            </a:pPr>
            <a:r>
              <a:rPr lang="en-US" b="1" dirty="0"/>
              <a:t>Designed the Layout</a:t>
            </a:r>
          </a:p>
          <a:p>
            <a:r>
              <a:rPr lang="en-US" dirty="0"/>
              <a:t>Arranged visuals in a clean and readable format</a:t>
            </a:r>
          </a:p>
          <a:p>
            <a:r>
              <a:rPr lang="en-US" dirty="0"/>
              <a:t>Added product gallery at the top</a:t>
            </a:r>
          </a:p>
          <a:p>
            <a:r>
              <a:rPr lang="en-US" dirty="0"/>
              <a:t>Highlighted key product details (image + description)</a:t>
            </a:r>
          </a:p>
          <a:p>
            <a:pPr marL="0" indent="0">
              <a:buNone/>
            </a:pPr>
            <a:r>
              <a:rPr lang="en-US" b="1" dirty="0"/>
              <a:t>Applied Formatting</a:t>
            </a:r>
          </a:p>
          <a:p>
            <a:r>
              <a:rPr lang="en-US" dirty="0"/>
              <a:t>Used consistent color theme</a:t>
            </a:r>
          </a:p>
          <a:p>
            <a:r>
              <a:rPr lang="en-US" dirty="0"/>
              <a:t>Adjusted fonts, borders, and background colors</a:t>
            </a:r>
          </a:p>
          <a:p>
            <a:r>
              <a:rPr lang="en-US" dirty="0"/>
              <a:t>Ensured the dashboard is visually appealing and easy to understand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619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B681-B97D-FCDD-0624-3670D54C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200" b="1" dirty="0"/>
            </a:br>
            <a:r>
              <a:rPr lang="en-US" sz="3600" b="1" dirty="0">
                <a:latin typeface="+mn-lt"/>
                <a:ea typeface="+mn-ea"/>
                <a:cs typeface="+mn-cs"/>
              </a:rPr>
              <a:t>Final</a:t>
            </a:r>
            <a:r>
              <a:rPr lang="en-US" sz="3600" b="1" dirty="0"/>
              <a:t> </a:t>
            </a:r>
            <a:r>
              <a:rPr lang="en-US" sz="3600" b="1" dirty="0">
                <a:latin typeface="+mn-lt"/>
                <a:ea typeface="+mn-ea"/>
                <a:cs typeface="+mn-cs"/>
              </a:rPr>
              <a:t>Dashboard</a:t>
            </a:r>
            <a:r>
              <a:rPr lang="en-US" sz="3600" b="1" dirty="0"/>
              <a:t> </a:t>
            </a:r>
            <a:r>
              <a:rPr lang="en-US" sz="3600" b="1" dirty="0">
                <a:latin typeface="+mn-lt"/>
                <a:ea typeface="+mn-ea"/>
                <a:cs typeface="+mn-cs"/>
              </a:rPr>
              <a:t>Output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33F3A5-A4A3-FD8F-76A9-156C7364C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90687"/>
            <a:ext cx="6843252" cy="480218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4AFDD9-ABB5-DC25-E8B9-33D7EC38D74C}"/>
              </a:ext>
            </a:extLst>
          </p:cNvPr>
          <p:cNvSpPr txBox="1"/>
          <p:nvPr/>
        </p:nvSpPr>
        <p:spPr>
          <a:xfrm>
            <a:off x="6744929" y="1169301"/>
            <a:ext cx="544707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final dashboard was created in Power BI, combining data from SQL Server and Excel sources.</a:t>
            </a:r>
            <a:br>
              <a:rPr lang="en-US" dirty="0"/>
            </a:br>
            <a:r>
              <a:rPr lang="en-US" dirty="0"/>
              <a:t>The dashboard provides an interactive and visual summary of:</a:t>
            </a:r>
          </a:p>
          <a:p>
            <a:r>
              <a:rPr lang="en-US" b="1" dirty="0"/>
              <a:t>Product performance</a:t>
            </a:r>
            <a:endParaRPr lang="en-US" dirty="0"/>
          </a:p>
          <a:p>
            <a:r>
              <a:rPr lang="en-US" b="1" dirty="0"/>
              <a:t>Country-wise revenue</a:t>
            </a:r>
            <a:endParaRPr lang="en-US" dirty="0"/>
          </a:p>
          <a:p>
            <a:r>
              <a:rPr lang="en-US" b="1" dirty="0"/>
              <a:t>Monthly &amp; yearly trends</a:t>
            </a:r>
            <a:endParaRPr lang="en-US" dirty="0"/>
          </a:p>
          <a:p>
            <a:r>
              <a:rPr lang="en-US" b="1" dirty="0"/>
              <a:t>Discount band breakdown</a:t>
            </a:r>
            <a:endParaRPr lang="en-US" dirty="0"/>
          </a:p>
          <a:p>
            <a:r>
              <a:rPr lang="en-US" b="1" dirty="0"/>
              <a:t>Customer type analysis</a:t>
            </a:r>
            <a:endParaRPr lang="en-US" dirty="0"/>
          </a:p>
          <a:p>
            <a:r>
              <a:rPr lang="en-US" b="1" dirty="0"/>
              <a:t>Product gallery with descriptions</a:t>
            </a:r>
            <a:endParaRPr lang="en-US" dirty="0"/>
          </a:p>
          <a:p>
            <a:pPr>
              <a:buNone/>
            </a:pPr>
            <a:r>
              <a:rPr lang="en-US" dirty="0"/>
              <a:t>This dashboard helps in understanding key business insights and supports decision-making for sales, pricing, and product strategy.</a:t>
            </a:r>
          </a:p>
        </p:txBody>
      </p:sp>
    </p:spTree>
    <p:extLst>
      <p:ext uri="{BB962C8B-B14F-4D97-AF65-F5344CB8AC3E}">
        <p14:creationId xmlns:p14="http://schemas.microsoft.com/office/powerpoint/2010/main" val="4229761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CBC33-3B08-6248-A8A9-E7B9A5EE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200" b="1" dirty="0">
                <a:latin typeface="+mn-lt"/>
                <a:ea typeface="+mn-ea"/>
                <a:cs typeface="+mn-cs"/>
              </a:rPr>
            </a:br>
            <a:r>
              <a:rPr lang="en-US" sz="3200" b="1" dirty="0">
                <a:latin typeface="+mn-lt"/>
                <a:ea typeface="+mn-ea"/>
                <a:cs typeface="+mn-cs"/>
              </a:rPr>
              <a:t>Key</a:t>
            </a:r>
            <a:r>
              <a:rPr lang="en-US" sz="3200" b="1" dirty="0"/>
              <a:t> </a:t>
            </a:r>
            <a:r>
              <a:rPr lang="en-US" sz="3200" b="1" dirty="0">
                <a:latin typeface="+mn-lt"/>
                <a:ea typeface="+mn-ea"/>
                <a:cs typeface="+mn-cs"/>
              </a:rPr>
              <a:t>Insights</a:t>
            </a:r>
            <a:r>
              <a:rPr lang="en-US" sz="3200" b="1" dirty="0"/>
              <a:t> </a:t>
            </a:r>
            <a:r>
              <a:rPr lang="en-US" sz="3200" b="1" dirty="0">
                <a:latin typeface="+mn-lt"/>
                <a:ea typeface="+mn-ea"/>
                <a:cs typeface="+mn-cs"/>
              </a:rPr>
              <a:t>from</a:t>
            </a:r>
            <a:r>
              <a:rPr lang="en-US" sz="3200" b="1" dirty="0"/>
              <a:t> </a:t>
            </a:r>
            <a:r>
              <a:rPr lang="en-US" sz="3200" b="1" dirty="0">
                <a:latin typeface="+mn-lt"/>
                <a:ea typeface="+mn-ea"/>
                <a:cs typeface="+mn-cs"/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latin typeface="+mn-lt"/>
                <a:ea typeface="+mn-ea"/>
                <a:cs typeface="+mn-cs"/>
              </a:rPr>
              <a:t>Dashboard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05B7C-2C58-23E5-49B8-1B9130A85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503"/>
            <a:ext cx="10515600" cy="516193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1️⃣ Country-wise Revenue</a:t>
            </a:r>
          </a:p>
          <a:p>
            <a:r>
              <a:rPr lang="en-US" b="1" dirty="0"/>
              <a:t>Canada generated the highest revenue</a:t>
            </a:r>
            <a:r>
              <a:rPr lang="en-US" dirty="0"/>
              <a:t>, followed by </a:t>
            </a:r>
            <a:r>
              <a:rPr lang="en-US" b="1" dirty="0"/>
              <a:t>France</a:t>
            </a:r>
            <a:r>
              <a:rPr lang="en-US" dirty="0"/>
              <a:t>, the </a:t>
            </a:r>
            <a:r>
              <a:rPr lang="en-US" b="1" dirty="0"/>
              <a:t>United States</a:t>
            </a:r>
            <a:r>
              <a:rPr lang="en-US" dirty="0"/>
              <a:t>, </a:t>
            </a:r>
            <a:r>
              <a:rPr lang="en-US" b="1" dirty="0"/>
              <a:t>Mexico</a:t>
            </a:r>
            <a:r>
              <a:rPr lang="en-US" dirty="0"/>
              <a:t>, and </a:t>
            </a:r>
            <a:r>
              <a:rPr lang="en-US" b="1" dirty="0"/>
              <a:t>Germany</a:t>
            </a:r>
            <a:r>
              <a:rPr lang="en-US" dirty="0"/>
              <a:t>.</a:t>
            </a:r>
          </a:p>
          <a:p>
            <a:r>
              <a:rPr lang="en-US" dirty="0"/>
              <a:t>This indicates strong product demand in </a:t>
            </a:r>
            <a:r>
              <a:rPr lang="en-US" b="1" dirty="0"/>
              <a:t>North American and European</a:t>
            </a:r>
            <a:r>
              <a:rPr lang="en-US" dirty="0"/>
              <a:t> markets.</a:t>
            </a:r>
          </a:p>
          <a:p>
            <a:pPr marL="0" indent="0">
              <a:buNone/>
            </a:pPr>
            <a:r>
              <a:rPr lang="en-US" b="1" dirty="0"/>
              <a:t>2️⃣ Monthly &amp; Yearly Trends</a:t>
            </a:r>
          </a:p>
          <a:p>
            <a:r>
              <a:rPr lang="en-US" dirty="0"/>
              <a:t>Revenue shows </a:t>
            </a:r>
            <a:r>
              <a:rPr lang="en-US" b="1" dirty="0"/>
              <a:t>consistent growth from 2022 to 2023</a:t>
            </a:r>
            <a:r>
              <a:rPr lang="en-US" dirty="0"/>
              <a:t>.</a:t>
            </a:r>
          </a:p>
          <a:p>
            <a:r>
              <a:rPr lang="en-US" dirty="0"/>
              <a:t>Certain months show noticeable peaks, indicating </a:t>
            </a:r>
            <a:r>
              <a:rPr lang="en-US" b="1" dirty="0"/>
              <a:t>seasonal demand patterns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3️⃣ Discount Band Breakdown</a:t>
            </a:r>
          </a:p>
          <a:p>
            <a:r>
              <a:rPr lang="en-US" dirty="0"/>
              <a:t>The largest portion of revenue comes from the </a:t>
            </a:r>
            <a:r>
              <a:rPr lang="en-US" b="1" dirty="0"/>
              <a:t>Medium and High discount bands</a:t>
            </a:r>
            <a:r>
              <a:rPr lang="en-US" dirty="0"/>
              <a:t>.</a:t>
            </a:r>
          </a:p>
          <a:p>
            <a:r>
              <a:rPr lang="en-US" dirty="0"/>
              <a:t>Customers respond well to </a:t>
            </a:r>
            <a:r>
              <a:rPr lang="en-US" b="1" dirty="0"/>
              <a:t>strategic discounting</a:t>
            </a:r>
            <a:r>
              <a:rPr lang="en-US" dirty="0"/>
              <a:t>, boosting sales volume.</a:t>
            </a:r>
          </a:p>
          <a:p>
            <a:pPr marL="0" indent="0">
              <a:buNone/>
            </a:pPr>
            <a:r>
              <a:rPr lang="en-US" b="1" dirty="0"/>
              <a:t>4️⃣ Customer Type Performance</a:t>
            </a:r>
          </a:p>
          <a:p>
            <a:r>
              <a:rPr lang="en-US" dirty="0"/>
              <a:t>Top-performing customer segments include </a:t>
            </a:r>
            <a:r>
              <a:rPr lang="en-US" b="1" dirty="0"/>
              <a:t>Creator</a:t>
            </a:r>
            <a:r>
              <a:rPr lang="en-US" dirty="0"/>
              <a:t>, </a:t>
            </a:r>
            <a:r>
              <a:rPr lang="en-US" b="1" dirty="0"/>
              <a:t>Education</a:t>
            </a:r>
            <a:r>
              <a:rPr lang="en-US" dirty="0"/>
              <a:t>, and </a:t>
            </a:r>
            <a:r>
              <a:rPr lang="en-US" b="1" dirty="0"/>
              <a:t>Enterprise</a:t>
            </a:r>
            <a:r>
              <a:rPr lang="en-US" dirty="0"/>
              <a:t>.</a:t>
            </a:r>
          </a:p>
          <a:p>
            <a:r>
              <a:rPr lang="en-US" dirty="0"/>
              <a:t>These segments show strong purchasing behavior across both years.</a:t>
            </a:r>
          </a:p>
          <a:p>
            <a:pPr marL="0" indent="0">
              <a:buNone/>
            </a:pPr>
            <a:r>
              <a:rPr lang="en-US" b="1" dirty="0"/>
              <a:t>5️⃣ Product-Level Insights</a:t>
            </a:r>
          </a:p>
          <a:p>
            <a:r>
              <a:rPr lang="en-US" dirty="0"/>
              <a:t>The dashboard highlights product descriptions, images, and pricing.</a:t>
            </a:r>
          </a:p>
          <a:p>
            <a:r>
              <a:rPr lang="en-US" dirty="0"/>
              <a:t>Users can explore </a:t>
            </a:r>
            <a:r>
              <a:rPr lang="en-US" b="1" dirty="0"/>
              <a:t>product performance</a:t>
            </a:r>
            <a:r>
              <a:rPr lang="en-US" dirty="0"/>
              <a:t>, </a:t>
            </a:r>
            <a:r>
              <a:rPr lang="en-US" b="1" dirty="0"/>
              <a:t>profitability</a:t>
            </a:r>
            <a:r>
              <a:rPr lang="en-US" dirty="0"/>
              <a:t>, and </a:t>
            </a:r>
            <a:r>
              <a:rPr lang="en-US" b="1" dirty="0"/>
              <a:t>market positioning</a:t>
            </a:r>
            <a:r>
              <a:rPr lang="en-US" dirty="0"/>
              <a:t> easily.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10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537F-7436-3C89-9979-42A888FE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900" b="1" dirty="0">
                <a:latin typeface="+mn-lt"/>
                <a:ea typeface="+mn-ea"/>
                <a:cs typeface="+mn-cs"/>
              </a:rPr>
              <a:t>Conclusion</a:t>
            </a:r>
            <a:r>
              <a:rPr lang="en-IN" sz="3200" dirty="0"/>
              <a:t> &amp; </a:t>
            </a:r>
            <a:r>
              <a:rPr lang="en-IN" sz="2900" b="1" dirty="0">
                <a:latin typeface="+mn-lt"/>
                <a:ea typeface="+mn-ea"/>
                <a:cs typeface="+mn-cs"/>
              </a:rPr>
              <a:t>Final</a:t>
            </a:r>
            <a:r>
              <a:rPr lang="en-IN" sz="3200" dirty="0"/>
              <a:t> </a:t>
            </a:r>
            <a:r>
              <a:rPr lang="en-IN" sz="2900" b="1" dirty="0">
                <a:latin typeface="+mn-lt"/>
                <a:ea typeface="+mn-ea"/>
                <a:cs typeface="+mn-cs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1C79B-A61B-EC9C-2AF8-38D88D63F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 Project Summary</a:t>
            </a:r>
            <a:endParaRPr lang="en-US" dirty="0"/>
          </a:p>
          <a:p>
            <a:r>
              <a:rPr lang="en-US" dirty="0"/>
              <a:t>Successfully built a complete </a:t>
            </a:r>
            <a:r>
              <a:rPr lang="en-US" b="1" dirty="0"/>
              <a:t>End-to-End Product Analytics Dashboard</a:t>
            </a:r>
            <a:r>
              <a:rPr lang="en-US" dirty="0"/>
              <a:t>.</a:t>
            </a:r>
          </a:p>
          <a:p>
            <a:r>
              <a:rPr lang="en-US" dirty="0"/>
              <a:t>Data was sourced from </a:t>
            </a:r>
            <a:r>
              <a:rPr lang="en-US" b="1" dirty="0"/>
              <a:t>Excel → SQL Server → Power BI</a:t>
            </a:r>
            <a:r>
              <a:rPr lang="en-US" dirty="0"/>
              <a:t>.</a:t>
            </a:r>
          </a:p>
          <a:p>
            <a:r>
              <a:rPr lang="en-US" dirty="0"/>
              <a:t>SQL queries were used to </a:t>
            </a:r>
            <a:r>
              <a:rPr lang="en-US" b="1" dirty="0"/>
              <a:t>clean, combine, and transform data</a:t>
            </a:r>
            <a:r>
              <a:rPr lang="en-US" dirty="0"/>
              <a:t> before loading it into Power BI.</a:t>
            </a:r>
          </a:p>
          <a:p>
            <a:r>
              <a:rPr lang="en-US" dirty="0"/>
              <a:t>Dashboard provides rich insights into </a:t>
            </a:r>
            <a:r>
              <a:rPr lang="en-US" b="1" dirty="0"/>
              <a:t>sales trends, revenue, discounts, and product performance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What This Project Demonstrates</a:t>
            </a:r>
            <a:endParaRPr lang="en-US" dirty="0"/>
          </a:p>
          <a:p>
            <a:r>
              <a:rPr lang="en-US" dirty="0"/>
              <a:t>Strong skills in </a:t>
            </a:r>
            <a:r>
              <a:rPr lang="en-US" b="1" dirty="0"/>
              <a:t>Excel, SQL, Power BI, Data Modeling, and DAX</a:t>
            </a:r>
            <a:r>
              <a:rPr lang="en-US" dirty="0"/>
              <a:t>.</a:t>
            </a:r>
          </a:p>
          <a:p>
            <a:r>
              <a:rPr lang="en-US" dirty="0"/>
              <a:t>Ability to perform </a:t>
            </a:r>
            <a:r>
              <a:rPr lang="en-US" b="1" dirty="0"/>
              <a:t>ETL (Extract, Transform, Load)</a:t>
            </a:r>
            <a:r>
              <a:rPr lang="en-US" dirty="0"/>
              <a:t> using SQL and Power Query.</a:t>
            </a:r>
          </a:p>
          <a:p>
            <a:r>
              <a:rPr lang="en-US" dirty="0"/>
              <a:t>Capability to build </a:t>
            </a:r>
            <a:r>
              <a:rPr lang="en-US" b="1" dirty="0"/>
              <a:t>interactive and professional dashboards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Thank You Message</a:t>
            </a:r>
          </a:p>
          <a:p>
            <a:pPr marL="0" indent="0">
              <a:buNone/>
            </a:pPr>
            <a:r>
              <a:rPr lang="en-US" b="1" dirty="0"/>
              <a:t> </a:t>
            </a:r>
            <a:br>
              <a:rPr lang="en-US" dirty="0"/>
            </a:br>
            <a:r>
              <a:rPr lang="en-US" dirty="0"/>
              <a:t>             </a:t>
            </a:r>
            <a:r>
              <a:rPr lang="en-US" b="1" dirty="0"/>
              <a:t>Thank you for reviewing my project!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381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1264</Words>
  <Application>Microsoft Office PowerPoint</Application>
  <PresentationFormat>Widescreen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Product Analytics Dashboard A Data-Driven Approach to Understanding Product Performance</vt:lpstr>
      <vt:lpstr>Request From Management                                                            Dashboard Requirement: Product Analytics Overview </vt:lpstr>
      <vt:lpstr> Project Workflow </vt:lpstr>
      <vt:lpstr> Asces Company Profile </vt:lpstr>
      <vt:lpstr>  Data Sources Used in the Project </vt:lpstr>
      <vt:lpstr> Importing Data into SQL Server </vt:lpstr>
      <vt:lpstr>SQL Query Used for Data Preparation</vt:lpstr>
      <vt:lpstr> Importing SQL Data into Power BI </vt:lpstr>
      <vt:lpstr> Data Cleaning &amp; Transformation in Power BI </vt:lpstr>
      <vt:lpstr> Building the Dashboard in Power BI </vt:lpstr>
      <vt:lpstr> Final Dashboard Output </vt:lpstr>
      <vt:lpstr> Key Insights from the Dashboard </vt:lpstr>
      <vt:lpstr>Conclusion &amp; Final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Matcha</dc:creator>
  <cp:lastModifiedBy>Srikanth Matcha</cp:lastModifiedBy>
  <cp:revision>3</cp:revision>
  <dcterms:created xsi:type="dcterms:W3CDTF">2025-11-27T15:59:29Z</dcterms:created>
  <dcterms:modified xsi:type="dcterms:W3CDTF">2025-11-30T10:33:44Z</dcterms:modified>
</cp:coreProperties>
</file>